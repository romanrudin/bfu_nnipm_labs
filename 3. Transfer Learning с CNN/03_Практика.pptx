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7"/>
  </p:notesMasterIdLst>
  <p:handoutMasterIdLst>
    <p:handoutMasterId r:id="rId28"/>
  </p:handoutMasterIdLst>
  <p:sldIdLst>
    <p:sldId id="265" r:id="rId5"/>
    <p:sldId id="271" r:id="rId6"/>
    <p:sldId id="314" r:id="rId7"/>
    <p:sldId id="274" r:id="rId8"/>
    <p:sldId id="273" r:id="rId9"/>
    <p:sldId id="315" r:id="rId10"/>
    <p:sldId id="275" r:id="rId11"/>
    <p:sldId id="276" r:id="rId12"/>
    <p:sldId id="277" r:id="rId13"/>
    <p:sldId id="316" r:id="rId14"/>
    <p:sldId id="281" r:id="rId15"/>
    <p:sldId id="280" r:id="rId16"/>
    <p:sldId id="282" r:id="rId17"/>
    <p:sldId id="317" r:id="rId18"/>
    <p:sldId id="294" r:id="rId19"/>
    <p:sldId id="293" r:id="rId20"/>
    <p:sldId id="295" r:id="rId21"/>
    <p:sldId id="296" r:id="rId22"/>
    <p:sldId id="306" r:id="rId23"/>
    <p:sldId id="291" r:id="rId24"/>
    <p:sldId id="298" r:id="rId25"/>
    <p:sldId id="307" r:id="rId2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43" autoAdjust="0"/>
  </p:normalViewPr>
  <p:slideViewPr>
    <p:cSldViewPr snapToGrid="0" showGuides="1"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0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DDCB7EC-CEDA-42D5-8A0A-747B258F7B12}" type="datetime1">
              <a:rPr lang="ru-RU" smtClean="0"/>
              <a:t>21.09.2026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78FE58C-C1A6-4C4C-90C2-B7F5B0504B2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7BBAA-8962-46BE-8131-E6CE08071E10}" type="datetime1">
              <a:rPr lang="ru-RU" smtClean="0"/>
              <a:pPr/>
              <a:t>21.09.2026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10E1E9A-E921-4174-A0FC-51868D7AC568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18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AAF71-7088-4082-A4B5-5D2286FF71A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566367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62100" y="1145136"/>
            <a:ext cx="9791700" cy="5031827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50B887-75E0-4C5B-AF37-E33049182621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u-RU" noProof="0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379668-2161-488D-96B8-6A859D0F15B4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939C50-7762-4792-95E1-E7874CF6E4A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01220-6B3C-4719-8281-16AA8BA3EF64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D7245F-B3C7-4358-926A-1EE496656B67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D0A9D0-FD05-4374-8990-9A13D81CB546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70C57-C6EC-43E3-AE3A-40D83CDB2BD6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724B01-8CDF-43F1-A896-03E2F79CCBA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05DDED-C00D-420D-BCCC-88709E63D747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DCCF59-F12C-4B22-A0B5-0569E7EBF814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30E92-8550-4A93-A5ED-7A5CF78928CB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179320"/>
            <a:ext cx="9791700" cy="4997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C3194B10-7A25-4893-8C5C-B707DE59842E}" type="datetime1">
              <a:rPr lang="ru-RU" noProof="0" smtClean="0"/>
              <a:t>21.09.2026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1B7BAC7-FE87-40F6-AA24-4F4685D1B0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r>
              <a:rPr lang="ru-RU" b="1" dirty="0" err="1"/>
              <a:t>Transfer</a:t>
            </a:r>
            <a:r>
              <a:rPr lang="ru-RU" b="1" dirty="0"/>
              <a:t> </a:t>
            </a:r>
            <a:r>
              <a:rPr lang="ru-RU" b="1" dirty="0" err="1"/>
              <a:t>Learning</a:t>
            </a:r>
            <a:r>
              <a:rPr lang="ru-RU" b="1" dirty="0"/>
              <a:t> с CNN (</a:t>
            </a:r>
            <a:r>
              <a:rPr lang="ru-RU" b="1" dirty="0" err="1"/>
              <a:t>ResNet</a:t>
            </a:r>
            <a:r>
              <a:rPr lang="ru-RU" b="1" dirty="0"/>
              <a:t>, </a:t>
            </a:r>
            <a:r>
              <a:rPr lang="ru-RU" b="1" dirty="0" err="1"/>
              <a:t>DenseNet</a:t>
            </a:r>
            <a:r>
              <a:rPr lang="ru-RU" b="1" dirty="0"/>
              <a:t>, </a:t>
            </a:r>
            <a:r>
              <a:rPr lang="ru-RU" b="1" dirty="0" err="1"/>
              <a:t>EfficientNet</a:t>
            </a:r>
            <a:r>
              <a:rPr lang="ru-RU" b="1" dirty="0"/>
              <a:t>)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Занятие 0</a:t>
            </a:r>
            <a:r>
              <a:rPr lang="en-US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Почему </a:t>
            </a:r>
            <a:r>
              <a:rPr lang="ru-RU" b="1" dirty="0" err="1"/>
              <a:t>transfer</a:t>
            </a:r>
            <a:r>
              <a:rPr lang="ru-RU" b="1" dirty="0"/>
              <a:t> </a:t>
            </a:r>
            <a:r>
              <a:rPr lang="ru-RU" b="1" dirty="0" err="1"/>
              <a:t>learning</a:t>
            </a:r>
            <a:r>
              <a:rPr lang="ru-RU" b="1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Обучение глубокой сети «с нуля» требует миллионов размеченных примеров и сотен GPU-часов.</a:t>
            </a:r>
            <a:br>
              <a:rPr lang="ru-RU" dirty="0"/>
            </a:br>
            <a:r>
              <a:rPr lang="ru-RU" dirty="0"/>
              <a:t>Реальные задачи часто имеют </a:t>
            </a:r>
            <a:r>
              <a:rPr lang="ru-RU" b="1" dirty="0"/>
              <a:t>малые датасеты</a:t>
            </a:r>
            <a:r>
              <a:rPr lang="ru-RU" dirty="0"/>
              <a:t> (сотни–тысячи изображений) и ограниченные ресурсы.</a:t>
            </a:r>
          </a:p>
          <a:p>
            <a:r>
              <a:rPr lang="ru-RU" dirty="0" err="1"/>
              <a:t>Transfer</a:t>
            </a:r>
            <a:r>
              <a:rPr lang="ru-RU" dirty="0"/>
              <a:t> </a:t>
            </a:r>
            <a:r>
              <a:rPr lang="ru-RU" dirty="0" err="1"/>
              <a:t>learning</a:t>
            </a:r>
            <a:r>
              <a:rPr lang="ru-RU" dirty="0"/>
              <a:t> — техника, при которой модель, обученная на большом датасете (обычно </a:t>
            </a:r>
            <a:r>
              <a:rPr lang="ru-RU" dirty="0" err="1"/>
              <a:t>ImageNet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1.2 </a:t>
            </a:r>
            <a:r>
              <a:rPr lang="ru-RU" dirty="0"/>
              <a:t>млн изображений, 1000 классов), используется как стартовая точка для другой задачи.</a:t>
            </a:r>
          </a:p>
          <a:p>
            <a:r>
              <a:rPr lang="ru-RU" b="1" dirty="0"/>
              <a:t>Ключевая идея:</a:t>
            </a:r>
            <a:r>
              <a:rPr lang="ru-RU" dirty="0"/>
              <a:t> нижние слои CNN учат универсальные признаки (края, текстуры, формы</a:t>
            </a:r>
            <a:r>
              <a:rPr lang="ru-RU" dirty="0" smtClean="0"/>
              <a:t>),</a:t>
            </a:r>
            <a:r>
              <a:rPr lang="en-US" dirty="0" smtClean="0"/>
              <a:t> </a:t>
            </a:r>
            <a:r>
              <a:rPr lang="ru-RU" dirty="0" smtClean="0"/>
              <a:t>полезные </a:t>
            </a:r>
            <a:r>
              <a:rPr lang="ru-RU" dirty="0"/>
              <a:t>в большинстве задач CV. Верхние слои — более специфичные (объекты, части объектов).</a:t>
            </a:r>
          </a:p>
        </p:txBody>
      </p:sp>
    </p:spTree>
    <p:extLst>
      <p:ext uri="{BB962C8B-B14F-4D97-AF65-F5344CB8AC3E}">
        <p14:creationId xmlns:p14="http://schemas.microsoft.com/office/powerpoint/2010/main" val="339577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Почему </a:t>
            </a:r>
            <a:r>
              <a:rPr lang="ru-RU" b="1" dirty="0" err="1"/>
              <a:t>transfer</a:t>
            </a:r>
            <a:r>
              <a:rPr lang="ru-RU" b="1" dirty="0"/>
              <a:t> </a:t>
            </a:r>
            <a:r>
              <a:rPr lang="ru-RU" b="1" dirty="0" err="1"/>
              <a:t>learning</a:t>
            </a:r>
            <a:r>
              <a:rPr lang="ru-RU" b="1" dirty="0"/>
              <a:t>?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601761"/>
              </p:ext>
            </p:extLst>
          </p:nvPr>
        </p:nvGraphicFramePr>
        <p:xfrm>
          <a:off x="1562100" y="1144588"/>
          <a:ext cx="97917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900">
                  <a:extLst>
                    <a:ext uri="{9D8B030D-6E8A-4147-A177-3AD203B41FA5}">
                      <a16:colId xmlns:a16="http://schemas.microsoft.com/office/drawing/2014/main" val="151351660"/>
                    </a:ext>
                  </a:extLst>
                </a:gridCol>
                <a:gridCol w="2808377">
                  <a:extLst>
                    <a:ext uri="{9D8B030D-6E8A-4147-A177-3AD203B41FA5}">
                      <a16:colId xmlns:a16="http://schemas.microsoft.com/office/drawing/2014/main" val="1165446741"/>
                    </a:ext>
                  </a:extLst>
                </a:gridCol>
                <a:gridCol w="3719423">
                  <a:extLst>
                    <a:ext uri="{9D8B030D-6E8A-4147-A177-3AD203B41FA5}">
                      <a16:colId xmlns:a16="http://schemas.microsoft.com/office/drawing/2014/main" val="899046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Режим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Что обучается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Когда использовать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1620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source serif 4"/>
                          <a:ea typeface="source serif 4"/>
                          <a:cs typeface="source serif 4"/>
                        </a:rPr>
                        <a:t>Feature Extraction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Только новый классификатор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Мало данных, задача похожа на ImageNet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99578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source serif 4"/>
                          <a:ea typeface="source serif 4"/>
                          <a:cs typeface="source serif 4"/>
                        </a:rPr>
                        <a:t>Fine-tuning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Backbone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 + классификатор</a:t>
                      </a:r>
                      <a:endParaRPr lang="ru-RU" sz="20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Больше данных, нужна высокая точность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39927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source serif 4"/>
                          <a:ea typeface="source serif 4"/>
                          <a:cs typeface="source serif 4"/>
                        </a:rPr>
                        <a:t>From Scratch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Всё с нуля</a:t>
                      </a:r>
                      <a:endParaRPr lang="ru-RU" sz="2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source sans 3"/>
                          <a:ea typeface="source sans 3"/>
                          <a:cs typeface="source sans 3"/>
                        </a:rPr>
                        <a:t>Огромный датасет, специфическая область</a:t>
                      </a:r>
                      <a:endParaRPr lang="ru-RU" sz="20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277302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22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Архитектура </a:t>
            </a:r>
            <a:r>
              <a:rPr lang="ru-RU" b="1" dirty="0" err="1"/>
              <a:t>ResNet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2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2015 году </a:t>
            </a:r>
            <a:r>
              <a:rPr lang="ru-RU" dirty="0" err="1"/>
              <a:t>Kaiming</a:t>
            </a:r>
            <a:r>
              <a:rPr lang="ru-RU" dirty="0"/>
              <a:t> </a:t>
            </a:r>
            <a:r>
              <a:rPr lang="ru-RU" dirty="0" err="1"/>
              <a:t>He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 обнаружили: при добавлении слоёв сверх некоторого </a:t>
            </a:r>
            <a:r>
              <a:rPr lang="ru-RU" dirty="0" smtClean="0"/>
              <a:t>предела</a:t>
            </a:r>
            <a:r>
              <a:rPr lang="en-US" dirty="0" smtClean="0"/>
              <a:t> </a:t>
            </a:r>
            <a:r>
              <a:rPr lang="ru-RU" dirty="0" smtClean="0"/>
              <a:t>точность </a:t>
            </a:r>
            <a:r>
              <a:rPr lang="ru-RU" dirty="0"/>
              <a:t>на обучающей выборке падает — это не переобучение, а проблема оптимизации.</a:t>
            </a:r>
            <a:br>
              <a:rPr lang="ru-RU" dirty="0"/>
            </a:br>
            <a:r>
              <a:rPr lang="ru-RU" dirty="0"/>
              <a:t>Причина — затухающие градиенты при обратном распространении ошибки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Ключевая идея </a:t>
            </a:r>
            <a:r>
              <a:rPr lang="ru-RU" dirty="0" err="1"/>
              <a:t>ResNet</a:t>
            </a:r>
            <a:r>
              <a:rPr lang="ru-RU" dirty="0"/>
              <a:t> — </a:t>
            </a:r>
            <a:r>
              <a:rPr lang="ru-RU" dirty="0" err="1"/>
              <a:t>skip</a:t>
            </a:r>
            <a:r>
              <a:rPr lang="ru-RU" dirty="0"/>
              <a:t> </a:t>
            </a:r>
            <a:r>
              <a:rPr lang="ru-RU" dirty="0" err="1"/>
              <a:t>connection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F(x) = H(x) - x =&gt; H(x) = F(x) + x</a:t>
            </a:r>
          </a:p>
          <a:p>
            <a:r>
              <a:rPr lang="ru-RU" dirty="0"/>
              <a:t>Вместо прямого отображения H(x) слои учат разницу (остаток) F(x) = H(x) - x.</a:t>
            </a:r>
            <a:br>
              <a:rPr lang="ru-RU" dirty="0"/>
            </a:br>
            <a:r>
              <a:rPr lang="ru-RU" dirty="0"/>
              <a:t>Если оптимальное преобразование близко к тождественному, F(x) -&gt; 0 и слою легче обучиться.</a:t>
            </a:r>
          </a:p>
        </p:txBody>
      </p:sp>
    </p:spTree>
    <p:extLst>
      <p:ext uri="{BB962C8B-B14F-4D97-AF65-F5344CB8AC3E}">
        <p14:creationId xmlns:p14="http://schemas.microsoft.com/office/powerpoint/2010/main" val="33299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Схема </a:t>
            </a:r>
            <a:r>
              <a:rPr lang="ru-RU" b="1" dirty="0" err="1"/>
              <a:t>BasicBlock</a:t>
            </a:r>
            <a:r>
              <a:rPr lang="ru-RU" b="1" dirty="0"/>
              <a:t> (ResNet-18/34)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223" y="1458522"/>
            <a:ext cx="6029505" cy="4241093"/>
          </a:xfrm>
          <a:prstGeom prst="rect">
            <a:avLst/>
          </a:prstGeom>
        </p:spPr>
      </p:pic>
      <p:pic>
        <p:nvPicPr>
          <p:cNvPr id="1028" name="Picture 4" descr="https://proproprogs.ru/htm/nn_pytorch/files/pytorch-ostatochnye-neyronnye-seti-residual-networks--resnet.files/image0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205" y="2574180"/>
            <a:ext cx="3962400" cy="20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Bottleneck</a:t>
            </a:r>
            <a:r>
              <a:rPr lang="ru-RU" b="1" dirty="0"/>
              <a:t> блок (ResNet-50/101/152)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 err="1" smtClean="0"/>
              <a:t>Conv</a:t>
            </a:r>
            <a:r>
              <a:rPr lang="ru-RU" dirty="0" smtClean="0"/>
              <a:t> </a:t>
            </a:r>
            <a:r>
              <a:rPr lang="ru-RU" dirty="0"/>
              <a:t>1x1 (уменьшение каналов) -&gt; </a:t>
            </a:r>
            <a:r>
              <a:rPr lang="ru-RU" dirty="0" err="1"/>
              <a:t>Conv</a:t>
            </a:r>
            <a:r>
              <a:rPr lang="ru-RU" dirty="0"/>
              <a:t> 3x3 -&gt; </a:t>
            </a:r>
            <a:r>
              <a:rPr lang="ru-RU" dirty="0" err="1"/>
              <a:t>Conv</a:t>
            </a:r>
            <a:r>
              <a:rPr lang="ru-RU" dirty="0"/>
              <a:t> 1x1 (восстановление каналов).</a:t>
            </a:r>
            <a:br>
              <a:rPr lang="ru-RU" dirty="0"/>
            </a:br>
            <a:r>
              <a:rPr lang="ru-RU" dirty="0"/>
              <a:t>Снижает вычислительную стоимость в ~3 раза при той же точности.</a:t>
            </a:r>
          </a:p>
        </p:txBody>
      </p:sp>
      <p:pic>
        <p:nvPicPr>
          <p:cNvPr id="2050" name="Picture 2" descr="https://proproprogs.ru/htm/nn_pytorch/files/pytorch-ostatochnye-neyronnye-seti-residual-networks--resnet.files/image0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855" y="1679848"/>
            <a:ext cx="537210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0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Варианты </a:t>
            </a:r>
            <a:r>
              <a:rPr lang="ru-RU" b="1" dirty="0" err="1"/>
              <a:t>ResNet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381926"/>
              </p:ext>
            </p:extLst>
          </p:nvPr>
        </p:nvGraphicFramePr>
        <p:xfrm>
          <a:off x="1562100" y="1144588"/>
          <a:ext cx="9358941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4738">
                  <a:extLst>
                    <a:ext uri="{9D8B030D-6E8A-4147-A177-3AD203B41FA5}">
                      <a16:colId xmlns:a16="http://schemas.microsoft.com/office/drawing/2014/main" val="3502068312"/>
                    </a:ext>
                  </a:extLst>
                </a:gridCol>
                <a:gridCol w="2694556">
                  <a:extLst>
                    <a:ext uri="{9D8B030D-6E8A-4147-A177-3AD203B41FA5}">
                      <a16:colId xmlns:a16="http://schemas.microsoft.com/office/drawing/2014/main" val="1801668062"/>
                    </a:ext>
                  </a:extLst>
                </a:gridCol>
                <a:gridCol w="3119647">
                  <a:extLst>
                    <a:ext uri="{9D8B030D-6E8A-4147-A177-3AD203B41FA5}">
                      <a16:colId xmlns:a16="http://schemas.microsoft.com/office/drawing/2014/main" val="415181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Модель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Слоёв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Параметров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60754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ResNet-18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18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11.7M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06654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ResNet-34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34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21.8M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54379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ResNet-50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50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25.6M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35944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ResNet-101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101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44.5M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92893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ResNet-152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152</a:t>
                      </a:r>
                      <a:endParaRPr lang="ru-RU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source sans 3"/>
                          <a:cs typeface="source sans 3"/>
                        </a:rPr>
                        <a:t>60.2M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293678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22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Наиболее глубокая протестированная модель — 152-слойная </a:t>
            </a:r>
            <a:r>
              <a:rPr lang="ru-RU" dirty="0" err="1"/>
              <a:t>ResNet</a:t>
            </a:r>
            <a:r>
              <a:rPr lang="ru-RU" dirty="0"/>
              <a:t> — достигла ошибки top-5 4,49</a:t>
            </a:r>
            <a:r>
              <a:rPr lang="ru-RU" dirty="0" smtClean="0"/>
              <a:t>%</a:t>
            </a:r>
            <a:r>
              <a:rPr lang="en-US" dirty="0" smtClean="0"/>
              <a:t> (</a:t>
            </a:r>
            <a:r>
              <a:rPr lang="en-US" b="1" dirty="0"/>
              <a:t>ImageNet top-5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ru-RU" dirty="0"/>
              <a:t>на валидационной выборке, а ансамбль моделей — 3,57% на тестовой выборке, впервые превзойдя оценённый человеческий уровень (около 5,1</a:t>
            </a:r>
            <a:r>
              <a:rPr lang="ru-RU" dirty="0" smtClean="0"/>
              <a:t>%). </a:t>
            </a:r>
            <a:r>
              <a:rPr lang="ru-RU" dirty="0"/>
              <a:t>Для сравнения, на ILSVRC 2015 </a:t>
            </a:r>
            <a:r>
              <a:rPr lang="ru-RU" dirty="0" err="1"/>
              <a:t>GoogLeNet</a:t>
            </a:r>
            <a:r>
              <a:rPr lang="ru-RU" dirty="0"/>
              <a:t> (22 слоя) показал ошибку 6,7%, VGG-19 (19 слоёв) — 7,3%, тогда как ResNet-152 (152 слоя) — </a:t>
            </a:r>
            <a:r>
              <a:rPr lang="ru-RU" dirty="0" smtClean="0"/>
              <a:t>4,9%.</a:t>
            </a:r>
            <a:endParaRPr lang="ru-RU" dirty="0"/>
          </a:p>
          <a:p>
            <a:r>
              <a:rPr lang="ru-RU" dirty="0" smtClean="0"/>
              <a:t>Авторы </a:t>
            </a:r>
            <a:r>
              <a:rPr lang="ru-RU" dirty="0"/>
              <a:t>также успешно обучили сеть глубиной 1202 слоя на CIFAR-10, продемонстрировав, что остаточные связи впервые сделали практически осуществимым обучение сетей такой глубины стандартным градиентным методом без специальных </a:t>
            </a:r>
            <a:r>
              <a:rPr lang="ru-RU" dirty="0" smtClean="0"/>
              <a:t>ухищрений. </a:t>
            </a:r>
            <a:r>
              <a:rPr lang="ru-RU" dirty="0"/>
              <a:t>При этом отдельный эксперимент с ResNet-1001 показал качество хуже, чем у ResNet-110, что указывает на пределы применимости остаточных соединений при экстремальной глубине. На задаче детекции объектов COCO 2015 связка </a:t>
            </a:r>
            <a:r>
              <a:rPr lang="ru-RU" dirty="0" err="1"/>
              <a:t>Faster</a:t>
            </a:r>
            <a:r>
              <a:rPr lang="ru-RU" dirty="0"/>
              <a:t> R-CNN с ResNet-101 заняла первое место с </a:t>
            </a:r>
            <a:r>
              <a:rPr lang="ru-RU" dirty="0" err="1"/>
              <a:t>mAP</a:t>
            </a:r>
            <a:r>
              <a:rPr lang="ru-RU" dirty="0"/>
              <a:t> 42,1% (44,4% в </a:t>
            </a:r>
            <a:r>
              <a:rPr lang="ru-RU" dirty="0" smtClean="0"/>
              <a:t>ансамбле). </a:t>
            </a:r>
            <a:r>
              <a:rPr lang="ru-RU" dirty="0"/>
              <a:t>На CIFAR-10/100 ResNet-110 показал ошибку 6,43%, ResNet-164 — 23,4% на CIFAR-100.</a:t>
            </a:r>
          </a:p>
        </p:txBody>
      </p:sp>
    </p:spTree>
    <p:extLst>
      <p:ext uri="{BB962C8B-B14F-4D97-AF65-F5344CB8AC3E}">
        <p14:creationId xmlns:p14="http://schemas.microsoft.com/office/powerpoint/2010/main" val="99033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Структура</a:t>
            </a:r>
            <a:r>
              <a:rPr lang="en-US" b="1" dirty="0"/>
              <a:t> ResNet-50 (backbone </a:t>
            </a:r>
            <a:r>
              <a:rPr lang="ru-RU" b="1" dirty="0"/>
              <a:t>для</a:t>
            </a:r>
            <a:r>
              <a:rPr lang="en-US" b="1" dirty="0"/>
              <a:t> feature extraction</a:t>
            </a:r>
            <a:r>
              <a:rPr lang="en-US" b="1" dirty="0" smtClean="0"/>
              <a:t>):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smtClean="0"/>
              <a:t>conv1</a:t>
            </a:r>
            <a:r>
              <a:rPr lang="ru-RU" dirty="0"/>
              <a:t>: 7x7, </a:t>
            </a:r>
            <a:r>
              <a:rPr lang="ru-RU" dirty="0" err="1"/>
              <a:t>stride</a:t>
            </a:r>
            <a:r>
              <a:rPr lang="ru-RU" dirty="0"/>
              <a:t> 2 -&gt; 112x112</a:t>
            </a:r>
          </a:p>
          <a:p>
            <a:pPr lvl="0"/>
            <a:r>
              <a:rPr lang="ru-RU" dirty="0" err="1"/>
              <a:t>MaxPool</a:t>
            </a:r>
            <a:r>
              <a:rPr lang="ru-RU" dirty="0"/>
              <a:t>: 3x3, </a:t>
            </a:r>
            <a:r>
              <a:rPr lang="ru-RU" dirty="0" err="1"/>
              <a:t>stride</a:t>
            </a:r>
            <a:r>
              <a:rPr lang="ru-RU" dirty="0"/>
              <a:t> 2 -&gt; 56x56</a:t>
            </a:r>
          </a:p>
          <a:p>
            <a:pPr lvl="0"/>
            <a:r>
              <a:rPr lang="ru-RU" dirty="0"/>
              <a:t>layer1-4: серии </a:t>
            </a:r>
            <a:r>
              <a:rPr lang="ru-RU" dirty="0" err="1"/>
              <a:t>Bottleneck</a:t>
            </a:r>
            <a:r>
              <a:rPr lang="ru-RU" dirty="0"/>
              <a:t> блоков с прогрессивным уменьшением разрешения</a:t>
            </a:r>
          </a:p>
          <a:p>
            <a:pPr lvl="0"/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Pooling</a:t>
            </a:r>
            <a:r>
              <a:rPr lang="ru-RU" dirty="0"/>
              <a:t>: -&gt; вектор 2048-d</a:t>
            </a:r>
          </a:p>
          <a:p>
            <a:r>
              <a:rPr lang="en-US" dirty="0"/>
              <a:t>FC: 2048 -&gt; 1000 (</a:t>
            </a:r>
            <a:r>
              <a:rPr lang="ru-RU" dirty="0"/>
              <a:t>заменяется при</a:t>
            </a:r>
            <a:r>
              <a:rPr lang="en-US" dirty="0"/>
              <a:t> transfer learning)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57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Архитектура </a:t>
            </a:r>
            <a:r>
              <a:rPr lang="ru-RU" b="1" dirty="0" err="1" smtClean="0"/>
              <a:t>DenseNet</a:t>
            </a:r>
            <a:r>
              <a:rPr lang="en-US" b="1" dirty="0" smtClean="0"/>
              <a:t> (</a:t>
            </a:r>
            <a:r>
              <a:rPr lang="ru-RU" b="1" dirty="0" smtClean="0"/>
              <a:t>плотные связи)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1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Dense</a:t>
            </a:r>
            <a:r>
              <a:rPr lang="ru-RU" b="1" dirty="0"/>
              <a:t> </a:t>
            </a:r>
            <a:r>
              <a:rPr lang="ru-RU" b="1" dirty="0" err="1"/>
              <a:t>Block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DenseNet</a:t>
            </a:r>
            <a:r>
              <a:rPr lang="ru-RU" dirty="0"/>
              <a:t> (</a:t>
            </a:r>
            <a:r>
              <a:rPr lang="ru-RU" dirty="0" err="1"/>
              <a:t>Huang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., 2017): </a:t>
            </a:r>
            <a:r>
              <a:rPr lang="ru-RU" b="1" dirty="0"/>
              <a:t>каждый слой соединён со всеми последующими</a:t>
            </a:r>
            <a:r>
              <a:rPr lang="ru-RU" dirty="0" smtClean="0"/>
              <a:t>:</a:t>
            </a:r>
            <a:r>
              <a:rPr lang="en-US" dirty="0" smtClean="0"/>
              <a:t> </a:t>
            </a:r>
            <a:r>
              <a:rPr lang="ru-RU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u-RU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{l-1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dirty="0"/>
              <a:t>)</a:t>
            </a:r>
            <a:br>
              <a:rPr lang="ru-RU" dirty="0"/>
            </a:br>
            <a:r>
              <a:rPr lang="ru-RU" dirty="0"/>
              <a:t>Каждый слой получает в качестве входа карты признаков всех предыдущих слоев своего блока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Вместо </a:t>
            </a:r>
            <a:r>
              <a:rPr lang="ru-RU" dirty="0"/>
              <a:t>суммирования (как в </a:t>
            </a:r>
            <a:r>
              <a:rPr lang="ru-RU" dirty="0" err="1"/>
              <a:t>ResNet</a:t>
            </a:r>
            <a:r>
              <a:rPr lang="ru-RU" dirty="0"/>
              <a:t>) используется конкатенация каналов. Это сохраняет информацию о признаках разной сложности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Внутри </a:t>
            </a:r>
            <a:r>
              <a:rPr lang="ru-RU" dirty="0"/>
              <a:t>каждого слоя обычно применяется последовательность BN-</a:t>
            </a:r>
            <a:r>
              <a:rPr lang="ru-RU" dirty="0" err="1"/>
              <a:t>ReLU</a:t>
            </a:r>
            <a:r>
              <a:rPr lang="ru-RU" dirty="0"/>
              <a:t>-</a:t>
            </a:r>
            <a:r>
              <a:rPr lang="ru-RU" dirty="0" err="1"/>
              <a:t>Conv</a:t>
            </a:r>
            <a:r>
              <a:rPr lang="ru-RU" dirty="0"/>
              <a:t>(1x1)-BN-</a:t>
            </a:r>
            <a:r>
              <a:rPr lang="ru-RU" dirty="0" err="1"/>
              <a:t>ReLU</a:t>
            </a:r>
            <a:r>
              <a:rPr lang="ru-RU" dirty="0"/>
              <a:t>-</a:t>
            </a:r>
            <a:r>
              <a:rPr lang="ru-RU" dirty="0" err="1"/>
              <a:t>Conv</a:t>
            </a:r>
            <a:r>
              <a:rPr lang="ru-RU" dirty="0"/>
              <a:t>(3x3</a:t>
            </a:r>
            <a:r>
              <a:rPr lang="ru-RU" dirty="0" smtClean="0"/>
              <a:t>).</a:t>
            </a:r>
          </a:p>
          <a:p>
            <a:r>
              <a:rPr lang="ru-RU" dirty="0" smtClean="0"/>
              <a:t>L-</a:t>
            </a:r>
            <a:r>
              <a:rPr lang="ru-RU" dirty="0" err="1" smtClean="0"/>
              <a:t>компонентность</a:t>
            </a:r>
            <a:r>
              <a:rPr lang="ru-RU" dirty="0"/>
              <a:t>: каждый блок из L слоев порождает L новых карт признаков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Решает </a:t>
            </a:r>
            <a:r>
              <a:rPr lang="ru-RU" dirty="0"/>
              <a:t>проблему исчезающих градиентов: глубокие слои получают прямой доступ к сигналам ошибки от функции потерь и исходным признакам через </a:t>
            </a:r>
            <a:r>
              <a:rPr lang="ru-RU" dirty="0" err="1"/>
              <a:t>skip</a:t>
            </a:r>
            <a:r>
              <a:rPr lang="ru-RU" dirty="0"/>
              <a:t>-соединения.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31489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Transition Layer </a:t>
            </a:r>
            <a:r>
              <a:rPr lang="ru-RU" b="1" dirty="0"/>
              <a:t>и</a:t>
            </a:r>
            <a:r>
              <a:rPr lang="en-US" b="1" dirty="0"/>
              <a:t> Growth Rate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 err="1"/>
              <a:t>Growth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 </a:t>
            </a:r>
            <a:r>
              <a:rPr lang="ru-RU" dirty="0" smtClean="0"/>
              <a:t>(k): </a:t>
            </a:r>
            <a:r>
              <a:rPr lang="ru-RU" dirty="0"/>
              <a:t>количество новых карт признаков, которые добавляет каждый слой (обычно </a:t>
            </a:r>
            <a:r>
              <a:rPr lang="ru-RU" dirty="0" smtClean="0"/>
              <a:t>k=12</a:t>
            </a:r>
            <a:r>
              <a:rPr lang="ru-RU" dirty="0"/>
              <a:t>, 24, </a:t>
            </a:r>
            <a:r>
              <a:rPr lang="ru-RU" dirty="0" smtClean="0"/>
              <a:t>32 </a:t>
            </a:r>
            <a:r>
              <a:rPr lang="ru-RU" dirty="0"/>
              <a:t>или </a:t>
            </a:r>
            <a:r>
              <a:rPr lang="ru-RU" dirty="0" smtClean="0"/>
              <a:t>48).</a:t>
            </a:r>
            <a:r>
              <a:rPr lang="ru-RU" dirty="0"/>
              <a:t>Формула числа входных каналов для слоя </a:t>
            </a:r>
            <a:r>
              <a:rPr lang="ru-RU" dirty="0" smtClean="0"/>
              <a:t>l: k</a:t>
            </a:r>
            <a:r>
              <a:rPr lang="ru-RU" baseline="-25000" dirty="0" smtClean="0"/>
              <a:t>0</a:t>
            </a:r>
            <a:r>
              <a:rPr lang="ru-RU" dirty="0" smtClean="0"/>
              <a:t> </a:t>
            </a:r>
            <a:r>
              <a:rPr lang="ru-RU" dirty="0"/>
              <a:t>+ </a:t>
            </a:r>
            <a:r>
              <a:rPr lang="ru-RU" dirty="0" smtClean="0"/>
              <a:t>k*(</a:t>
            </a:r>
            <a:r>
              <a:rPr lang="ru-RU" dirty="0"/>
              <a:t>l-1</a:t>
            </a:r>
            <a:r>
              <a:rPr lang="ru-RU" dirty="0" smtClean="0"/>
              <a:t>), </a:t>
            </a:r>
            <a:r>
              <a:rPr lang="ru-RU" dirty="0"/>
              <a:t>где </a:t>
            </a:r>
            <a:r>
              <a:rPr lang="ru-RU" dirty="0" smtClean="0"/>
              <a:t>k</a:t>
            </a:r>
            <a:r>
              <a:rPr lang="ru-RU" baseline="-25000" dirty="0" smtClean="0"/>
              <a:t>0</a:t>
            </a:r>
            <a:r>
              <a:rPr lang="ru-RU" dirty="0" smtClean="0"/>
              <a:t> </a:t>
            </a:r>
            <a:r>
              <a:rPr lang="ru-RU" dirty="0"/>
              <a:t>— начальное число фильтров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Зачем </a:t>
            </a:r>
            <a:r>
              <a:rPr lang="ru-RU" dirty="0"/>
              <a:t>нужен </a:t>
            </a:r>
            <a:r>
              <a:rPr lang="ru-RU" dirty="0" err="1"/>
              <a:t>Transition</a:t>
            </a:r>
            <a:r>
              <a:rPr lang="ru-RU" dirty="0"/>
              <a:t> </a:t>
            </a:r>
            <a:r>
              <a:rPr lang="ru-RU" dirty="0" err="1"/>
              <a:t>Layer</a:t>
            </a:r>
            <a:r>
              <a:rPr lang="ru-RU" dirty="0"/>
              <a:t>: Чтобы контролировать взрывной рост размерности тензоров между плотными блоками и понижать разрешение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Состав </a:t>
            </a:r>
            <a:r>
              <a:rPr lang="ru-RU" dirty="0"/>
              <a:t>переходного слоя</a:t>
            </a:r>
            <a:r>
              <a:rPr lang="ru-RU" dirty="0" smtClean="0"/>
              <a:t>:</a:t>
            </a:r>
          </a:p>
          <a:p>
            <a:pPr lvl="0"/>
            <a:r>
              <a:rPr lang="ru-RU" dirty="0" err="1" smtClean="0"/>
              <a:t>Batch</a:t>
            </a:r>
            <a:r>
              <a:rPr lang="ru-RU" dirty="0" smtClean="0"/>
              <a:t> </a:t>
            </a:r>
            <a:r>
              <a:rPr lang="ru-RU" dirty="0" err="1" smtClean="0"/>
              <a:t>Normalization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Свёртка </a:t>
            </a:r>
            <a:r>
              <a:rPr lang="ru-RU" dirty="0"/>
              <a:t>1x1 для сжатия (</a:t>
            </a:r>
            <a:r>
              <a:rPr lang="ru-RU" dirty="0" err="1"/>
              <a:t>compression</a:t>
            </a:r>
            <a:r>
              <a:rPr lang="ru-RU" dirty="0"/>
              <a:t> </a:t>
            </a:r>
            <a:r>
              <a:rPr lang="ru-RU" dirty="0" err="1"/>
              <a:t>factor</a:t>
            </a:r>
            <a:r>
              <a:rPr lang="ru-RU" dirty="0"/>
              <a:t> </a:t>
            </a:r>
            <a:r>
              <a:rPr lang="ru-RU" dirty="0">
                <a:sym typeface="Symbol" panose="05050102010706020507" pitchFamily="18" charset="2"/>
              </a:rPr>
              <a:t></a:t>
            </a:r>
            <a:r>
              <a:rPr lang="ru-RU" dirty="0" smtClean="0"/>
              <a:t>, </a:t>
            </a:r>
            <a:r>
              <a:rPr lang="ru-RU" dirty="0"/>
              <a:t>типично 0.5). Формула выходных каналов: </a:t>
            </a:r>
            <a:r>
              <a:rPr lang="ru-RU" dirty="0" smtClean="0"/>
              <a:t>{входные </a:t>
            </a:r>
            <a:r>
              <a:rPr lang="ru-RU" dirty="0"/>
              <a:t>каналы</a:t>
            </a:r>
            <a:r>
              <a:rPr lang="ru-RU" dirty="0" smtClean="0"/>
              <a:t>}*</a:t>
            </a:r>
            <a:r>
              <a:rPr lang="ru-RU" dirty="0">
                <a:sym typeface="Symbol" panose="05050102010706020507" pitchFamily="18" charset="2"/>
              </a:rPr>
              <a:t> </a:t>
            </a:r>
            <a:r>
              <a:rPr lang="ru-RU" dirty="0" smtClean="0">
                <a:sym typeface="Symbol" panose="05050102010706020507" pitchFamily="18" charset="2"/>
              </a:rPr>
              <a:t></a:t>
            </a:r>
            <a:r>
              <a:rPr lang="ru-RU" dirty="0" smtClean="0"/>
              <a:t>.</a:t>
            </a:r>
          </a:p>
          <a:p>
            <a:pPr lvl="0"/>
            <a:r>
              <a:rPr lang="ru-RU" dirty="0" err="1" smtClean="0"/>
              <a:t>Average</a:t>
            </a:r>
            <a:r>
              <a:rPr lang="ru-RU" dirty="0" smtClean="0"/>
              <a:t> </a:t>
            </a:r>
            <a:r>
              <a:rPr lang="ru-RU" dirty="0" err="1"/>
              <a:t>Pooling</a:t>
            </a:r>
            <a:r>
              <a:rPr lang="ru-RU" dirty="0"/>
              <a:t> 2x2 с шагом 2 для уменьшения пространственного разрешения (</a:t>
            </a:r>
            <a:r>
              <a:rPr lang="ru-RU" dirty="0" err="1"/>
              <a:t>даунсемплинг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8545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Преимущества </a:t>
            </a:r>
            <a:r>
              <a:rPr lang="ru-RU" b="1" dirty="0" err="1"/>
              <a:t>DenseNet</a:t>
            </a:r>
            <a:r>
              <a:rPr lang="ru-RU" b="1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Значительно меньшее количество параметров (по сравнению с </a:t>
            </a:r>
            <a:r>
              <a:rPr lang="ru-RU" dirty="0" err="1"/>
              <a:t>ResNet</a:t>
            </a:r>
            <a:r>
              <a:rPr lang="ru-RU" dirty="0"/>
              <a:t> аналогичной глубины) за счет </a:t>
            </a:r>
            <a:r>
              <a:rPr lang="ru-RU" dirty="0" err="1"/>
              <a:t>переиспользования</a:t>
            </a:r>
            <a:r>
              <a:rPr lang="ru-RU" dirty="0"/>
              <a:t>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 smtClean="0"/>
              <a:t>maps</a:t>
            </a:r>
            <a:r>
              <a:rPr lang="ru-RU" dirty="0" smtClean="0"/>
              <a:t> (</a:t>
            </a:r>
            <a:r>
              <a:rPr lang="ru-RU" dirty="0"/>
              <a:t>DenseNet-201 (20M) конкурирует с ResNet-101 (44M)</a:t>
            </a:r>
            <a:r>
              <a:rPr lang="ru-RU" dirty="0" smtClean="0"/>
              <a:t>).</a:t>
            </a:r>
            <a:endParaRPr lang="ru-RU" dirty="0"/>
          </a:p>
          <a:p>
            <a:r>
              <a:rPr lang="ru-RU" dirty="0"/>
              <a:t>Усиленное распространение признаков (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reuse</a:t>
            </a:r>
            <a:r>
              <a:rPr lang="ru-RU" dirty="0"/>
              <a:t>).</a:t>
            </a:r>
          </a:p>
          <a:p>
            <a:r>
              <a:rPr lang="ru-RU" dirty="0"/>
              <a:t>Вычислительная эффективность внутри блоков благодаря узким слоям (например, сверткам 1x1 перед 3x3).</a:t>
            </a:r>
          </a:p>
          <a:p>
            <a:r>
              <a:rPr lang="ru-RU" b="1" dirty="0" smtClean="0"/>
              <a:t>Где </a:t>
            </a:r>
            <a:r>
              <a:rPr lang="ru-RU" b="1" dirty="0"/>
              <a:t>применять в </a:t>
            </a:r>
            <a:r>
              <a:rPr lang="ru-RU" b="1" dirty="0" err="1"/>
              <a:t>Transfer</a:t>
            </a:r>
            <a:r>
              <a:rPr lang="ru-RU" b="1" dirty="0"/>
              <a:t> </a:t>
            </a:r>
            <a:r>
              <a:rPr lang="ru-RU" b="1" dirty="0" err="1"/>
              <a:t>Learning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dirty="0" err="1"/>
              <a:t>Fine-tuning</a:t>
            </a:r>
            <a:r>
              <a:rPr lang="ru-RU" dirty="0"/>
              <a:t> классификаторов на небольших </a:t>
            </a:r>
            <a:r>
              <a:rPr lang="ru-RU" dirty="0" err="1"/>
              <a:t>датасетах</a:t>
            </a:r>
            <a:r>
              <a:rPr lang="ru-RU" dirty="0"/>
              <a:t> (медицинские снимки, спутниковые данные), задачи сегментации (из-за сильных локальных признаков) и извлечения </a:t>
            </a:r>
            <a:r>
              <a:rPr lang="ru-RU" dirty="0" smtClean="0"/>
              <a:t>признаков.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103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 </a:t>
            </a:r>
            <a:r>
              <a:rPr lang="ru-RU" b="1" dirty="0"/>
              <a:t>Архитектура </a:t>
            </a:r>
            <a:r>
              <a:rPr lang="ru-RU" b="1" dirty="0" err="1"/>
              <a:t>EfficientNet</a:t>
            </a:r>
            <a:r>
              <a:rPr lang="ru-RU" b="1" dirty="0"/>
              <a:t> </a:t>
            </a:r>
            <a:r>
              <a:rPr lang="ru-RU" b="1" dirty="0" smtClean="0"/>
              <a:t>(масштабирование </a:t>
            </a:r>
            <a:r>
              <a:rPr lang="ru-RU" b="1" dirty="0"/>
              <a:t>всей сети целиком)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46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Compound</a:t>
            </a:r>
            <a:r>
              <a:rPr lang="ru-RU" b="1" dirty="0"/>
              <a:t> </a:t>
            </a:r>
            <a:r>
              <a:rPr lang="ru-RU" b="1" dirty="0" err="1"/>
              <a:t>Scaling</a:t>
            </a:r>
            <a:r>
              <a:rPr lang="ru-RU" b="1" dirty="0"/>
              <a:t> (Сложное масштабирование)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 smtClean="0"/>
                  <a:t>Традиционный </a:t>
                </a:r>
                <a:r>
                  <a:rPr lang="ru-RU" dirty="0"/>
                  <a:t>подход: увеличиваем только глубину (N), ширину (W) или разрешение изображения (R). Это </a:t>
                </a:r>
                <a:r>
                  <a:rPr lang="ru-RU" dirty="0" smtClean="0"/>
                  <a:t>не оптимально.</a:t>
                </a:r>
                <a:endParaRPr lang="ru-RU" dirty="0"/>
              </a:p>
              <a:p>
                <a:r>
                  <a:rPr lang="ru-RU" b="1" dirty="0"/>
                  <a:t>Метод </a:t>
                </a:r>
                <a:r>
                  <a:rPr lang="ru-RU" b="1" dirty="0" err="1"/>
                  <a:t>EfficientNet</a:t>
                </a:r>
                <a:r>
                  <a:rPr lang="ru-RU" b="1" dirty="0"/>
                  <a:t>:</a:t>
                </a:r>
                <a:r>
                  <a:rPr lang="ru-RU" dirty="0"/>
                  <a:t> Одновременное сбалансированное увеличение всех трех измерений.</a:t>
                </a:r>
              </a:p>
              <a:p>
                <a:r>
                  <a:rPr lang="ru-RU" dirty="0"/>
                  <a:t>Коэффициенты масштабирования связаны фиксированным соотношением: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ru-RU" dirty="0" smtClean="0"/>
                  <a:t>где</a:t>
                </a:r>
                <a:r>
                  <a:rPr lang="ru-RU" dirty="0"/>
                  <a:t>:</a:t>
                </a:r>
              </a:p>
              <a:p>
                <a:pPr lvl="1"/>
                <a:r>
                  <a:rPr lang="ru-RU" dirty="0" smtClean="0">
                    <a:sym typeface="Symbol" panose="05050102010706020507" pitchFamily="18" charset="2"/>
                  </a:rPr>
                  <a:t> </a:t>
                </a:r>
                <a:r>
                  <a:rPr lang="ru-RU" dirty="0" smtClean="0"/>
                  <a:t>— </a:t>
                </a:r>
                <a:r>
                  <a:rPr lang="ru-RU" dirty="0"/>
                  <a:t>глубина (количество слоев),</a:t>
                </a:r>
              </a:p>
              <a:p>
                <a:pPr lvl="1"/>
                <a:r>
                  <a:rPr lang="ru-RU" dirty="0">
                    <a:sym typeface="Symbol" panose="05050102010706020507" pitchFamily="18" charset="2"/>
                  </a:rPr>
                  <a:t></a:t>
                </a:r>
                <a:r>
                  <a:rPr lang="ru-RU" dirty="0" smtClean="0"/>
                  <a:t> </a:t>
                </a:r>
                <a:r>
                  <a:rPr lang="ru-RU" dirty="0"/>
                  <a:t>— ширина (количество каналов),</a:t>
                </a:r>
              </a:p>
              <a:p>
                <a:pPr lvl="1"/>
                <a:r>
                  <a:rPr lang="ru-RU" dirty="0">
                    <a:sym typeface="Symbol" panose="05050102010706020507" pitchFamily="18" charset="2"/>
                  </a:rPr>
                  <a:t></a:t>
                </a:r>
                <a:r>
                  <a:rPr lang="ru-RU" dirty="0" smtClean="0"/>
                  <a:t> </a:t>
                </a:r>
                <a:r>
                  <a:rPr lang="ru-RU" dirty="0"/>
                  <a:t>— разрешение входного изображения.</a:t>
                </a:r>
              </a:p>
              <a:p>
                <a:r>
                  <a:rPr lang="ru-RU" dirty="0"/>
                  <a:t>Сначала на малом ресурсе с помощью </a:t>
                </a:r>
                <a:r>
                  <a:rPr lang="ru-RU" dirty="0" err="1"/>
                  <a:t>нейроархитектурного</a:t>
                </a:r>
                <a:r>
                  <a:rPr lang="ru-RU" dirty="0"/>
                  <a:t> поиска (NAS) находится базовая сеть (</a:t>
                </a:r>
                <a:r>
                  <a:rPr lang="ru-RU" i="1" dirty="0"/>
                  <a:t>EfficientNet-B0</a:t>
                </a:r>
                <a:r>
                  <a:rPr lang="ru-RU" dirty="0"/>
                  <a:t>). Затем </a:t>
                </a:r>
                <a:r>
                  <a:rPr lang="ru-RU" dirty="0" smtClean="0"/>
                  <a:t>коэффициенты </a:t>
                </a:r>
                <a:r>
                  <a:rPr lang="ru-RU" dirty="0" smtClean="0">
                    <a:sym typeface="Symbol" panose="05050102010706020507" pitchFamily="18" charset="2"/>
                  </a:rPr>
                  <a:t>,</a:t>
                </a:r>
                <a:r>
                  <a:rPr lang="ru-RU" dirty="0" smtClean="0"/>
                  <a:t> </a:t>
                </a:r>
                <a:r>
                  <a:rPr lang="ru-RU" dirty="0" smtClean="0">
                    <a:sym typeface="Symbol" panose="05050102010706020507" pitchFamily="18" charset="2"/>
                  </a:rPr>
                  <a:t>,  </a:t>
                </a:r>
                <a:r>
                  <a:rPr lang="ru-RU" dirty="0" smtClean="0"/>
                  <a:t>применяются </a:t>
                </a:r>
                <a:r>
                  <a:rPr lang="ru-RU" dirty="0"/>
                  <a:t>для получения семейства B1–B7.</a:t>
                </a:r>
              </a:p>
              <a:p>
                <a:r>
                  <a:rPr lang="ru-RU" dirty="0"/>
                  <a:t>Результат: семейство моделей B0-B7, которое стабильно бьет рекорды точности при заданном количестве </a:t>
                </a:r>
                <a:r>
                  <a:rPr lang="ru-RU" dirty="0" err="1"/>
                  <a:t>FLOPs</a:t>
                </a:r>
                <a:r>
                  <a:rPr lang="ru-RU" dirty="0"/>
                  <a:t> и параметров (например, EfficientNet-B1 заметно точнее ResNet-50 при в 5 раз меньших вычислениях).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3" t="-2788" r="-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3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err="1"/>
              <a:t>MBConv</a:t>
            </a:r>
            <a:r>
              <a:rPr lang="ru-RU" b="1" dirty="0"/>
              <a:t> блок (</a:t>
            </a:r>
            <a:r>
              <a:rPr lang="ru-RU" b="1" dirty="0" err="1"/>
              <a:t>Mobile</a:t>
            </a:r>
            <a:r>
              <a:rPr lang="ru-RU" b="1" dirty="0"/>
              <a:t> </a:t>
            </a:r>
            <a:r>
              <a:rPr lang="ru-RU" b="1" dirty="0" err="1"/>
              <a:t>Inverted</a:t>
            </a:r>
            <a:r>
              <a:rPr lang="ru-RU" b="1" dirty="0"/>
              <a:t> </a:t>
            </a:r>
            <a:r>
              <a:rPr lang="ru-RU" b="1" dirty="0" err="1"/>
              <a:t>Bottleneck</a:t>
            </a:r>
            <a:r>
              <a:rPr lang="ru-RU" b="1" dirty="0"/>
              <a:t> + SE)</a:t>
            </a:r>
            <a:r>
              <a:rPr lang="ru-RU" dirty="0"/>
              <a:t> Фундаментальный кирпичик архитектуры (наследие MobileNetV2 с добавлением </a:t>
            </a:r>
            <a:r>
              <a:rPr lang="ru-RU" dirty="0" err="1"/>
              <a:t>Squeeze-and-Excitation</a:t>
            </a:r>
            <a:r>
              <a:rPr lang="ru-RU" dirty="0"/>
              <a:t>):</a:t>
            </a:r>
          </a:p>
          <a:p>
            <a:r>
              <a:rPr lang="ru-RU" b="1" dirty="0"/>
              <a:t>Цель инверсии:</a:t>
            </a:r>
            <a:r>
              <a:rPr lang="ru-RU" dirty="0"/>
              <a:t> сначала расширяем каналы (</a:t>
            </a:r>
            <a:r>
              <a:rPr lang="ru-RU" dirty="0" err="1"/>
              <a:t>Expansion</a:t>
            </a:r>
            <a:r>
              <a:rPr lang="ru-RU" dirty="0"/>
              <a:t>), а потом сжимаем. Это позволяет фильтрам в </a:t>
            </a:r>
            <a:r>
              <a:rPr lang="ru-RU" dirty="0" smtClean="0"/>
              <a:t>«дорогой» </a:t>
            </a:r>
            <a:r>
              <a:rPr lang="ru-RU" dirty="0"/>
              <a:t>глубине 3x3 работать в более богатом пространстве признаков.</a:t>
            </a:r>
          </a:p>
          <a:p>
            <a:r>
              <a:rPr lang="ru-RU" b="1" dirty="0"/>
              <a:t>Расширение (</a:t>
            </a:r>
            <a:r>
              <a:rPr lang="ru-RU" b="1" dirty="0" err="1"/>
              <a:t>Expansion</a:t>
            </a:r>
            <a:r>
              <a:rPr lang="ru-RU" b="1" dirty="0"/>
              <a:t> </a:t>
            </a:r>
            <a:r>
              <a:rPr lang="ru-RU" b="1" dirty="0" err="1"/>
              <a:t>layer</a:t>
            </a:r>
            <a:r>
              <a:rPr lang="ru-RU" b="1" dirty="0"/>
              <a:t>):</a:t>
            </a:r>
            <a:r>
              <a:rPr lang="ru-RU" dirty="0"/>
              <a:t> 1x1 свертка увеличивает число каналов в несколько раз (коэффициент расширения </a:t>
            </a:r>
            <a:r>
              <a:rPr lang="ru-RU" dirty="0" smtClean="0"/>
              <a:t>6</a:t>
            </a:r>
            <a:r>
              <a:rPr lang="ru-RU" dirty="0"/>
              <a:t>).</a:t>
            </a:r>
          </a:p>
          <a:p>
            <a:r>
              <a:rPr lang="ru-RU" b="1" dirty="0" err="1"/>
              <a:t>Depthwise</a:t>
            </a:r>
            <a:r>
              <a:rPr lang="ru-RU" b="1" dirty="0"/>
              <a:t> </a:t>
            </a:r>
            <a:r>
              <a:rPr lang="ru-RU" b="1" dirty="0" err="1"/>
              <a:t>Convolution</a:t>
            </a:r>
            <a:r>
              <a:rPr lang="ru-RU" b="1" dirty="0"/>
              <a:t> 3x3:</a:t>
            </a:r>
            <a:r>
              <a:rPr lang="ru-RU" dirty="0"/>
              <a:t> свертка применяется независимо к каждому каналу. Дешево с точки зрения вычислений.</a:t>
            </a:r>
          </a:p>
          <a:p>
            <a:r>
              <a:rPr lang="ru-RU" b="1" dirty="0" err="1"/>
              <a:t>Squeeze-and-Excitation</a:t>
            </a:r>
            <a:r>
              <a:rPr lang="ru-RU" b="1" dirty="0"/>
              <a:t> (SE) </a:t>
            </a:r>
            <a:r>
              <a:rPr lang="ru-RU" b="1" dirty="0" err="1"/>
              <a:t>block</a:t>
            </a:r>
            <a:r>
              <a:rPr lang="ru-RU" b="1" dirty="0"/>
              <a:t> (адаптивное </a:t>
            </a:r>
            <a:r>
              <a:rPr lang="ru-RU" b="1" dirty="0" err="1"/>
              <a:t>перевзвешивание</a:t>
            </a:r>
            <a:r>
              <a:rPr lang="ru-RU" b="1" dirty="0"/>
              <a:t> каналов):</a:t>
            </a:r>
            <a:endParaRPr lang="ru-RU" dirty="0"/>
          </a:p>
          <a:p>
            <a:pPr lvl="1"/>
            <a:r>
              <a:rPr lang="ru-RU" i="1" dirty="0" err="1"/>
              <a:t>Squeeze</a:t>
            </a:r>
            <a:r>
              <a:rPr lang="ru-RU" i="1" dirty="0"/>
              <a:t>:</a:t>
            </a:r>
            <a:r>
              <a:rPr lang="ru-RU" dirty="0"/>
              <a:t>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Pooling</a:t>
            </a:r>
            <a:r>
              <a:rPr lang="ru-RU" dirty="0"/>
              <a:t> по пространству </a:t>
            </a:r>
            <a:r>
              <a:rPr lang="ru-RU" dirty="0" smtClean="0"/>
              <a:t>(</a:t>
            </a:r>
            <a:r>
              <a:rPr lang="ru-RU" dirty="0"/>
              <a:t>H, W</a:t>
            </a:r>
            <a:r>
              <a:rPr lang="ru-RU" dirty="0" smtClean="0"/>
              <a:t>) </a:t>
            </a:r>
            <a:r>
              <a:rPr lang="ru-RU" dirty="0"/>
              <a:t>-&gt; вектор </a:t>
            </a:r>
            <a:r>
              <a:rPr lang="ru-RU" dirty="0" smtClean="0"/>
              <a:t>z </a:t>
            </a:r>
            <a:r>
              <a:rPr lang="ru-RU" dirty="0"/>
              <a:t>длиной </a:t>
            </a:r>
            <a:r>
              <a:rPr lang="ru-RU" dirty="0" smtClean="0"/>
              <a:t>C.</a:t>
            </a:r>
            <a:endParaRPr lang="ru-RU" dirty="0"/>
          </a:p>
          <a:p>
            <a:pPr lvl="1"/>
            <a:r>
              <a:rPr lang="ru-RU" i="1" dirty="0" err="1"/>
              <a:t>Excitation</a:t>
            </a:r>
            <a:r>
              <a:rPr lang="ru-RU" i="1" dirty="0"/>
              <a:t>:</a:t>
            </a:r>
            <a:r>
              <a:rPr lang="ru-RU" dirty="0"/>
              <a:t> два полносвязных слоя (уменьшение размерности в </a:t>
            </a:r>
            <a:r>
              <a:rPr lang="ru-RU" dirty="0" smtClean="0"/>
              <a:t>r </a:t>
            </a:r>
            <a:r>
              <a:rPr lang="ru-RU" dirty="0"/>
              <a:t>раз, обычно </a:t>
            </a:r>
            <a:r>
              <a:rPr lang="ru-RU" dirty="0" smtClean="0"/>
              <a:t>r=4, </a:t>
            </a:r>
            <a:r>
              <a:rPr lang="ru-RU" dirty="0"/>
              <a:t>затем возврат) со </a:t>
            </a:r>
            <a:r>
              <a:rPr lang="ru-RU" dirty="0" err="1"/>
              <a:t>сигмоидой</a:t>
            </a:r>
            <a:r>
              <a:rPr lang="ru-RU" dirty="0"/>
              <a:t> на выходе -&gt; веса </a:t>
            </a:r>
            <a:r>
              <a:rPr lang="ru-RU" dirty="0" smtClean="0"/>
              <a:t>s.</a:t>
            </a:r>
            <a:endParaRPr lang="ru-RU" dirty="0"/>
          </a:p>
          <a:p>
            <a:pPr lvl="1"/>
            <a:r>
              <a:rPr lang="ru-RU" dirty="0"/>
              <a:t>Пересчет признаков: поэлементное умножение </a:t>
            </a:r>
            <a:r>
              <a:rPr lang="ru-RU" dirty="0" smtClean="0"/>
              <a:t>X</a:t>
            </a:r>
            <a:r>
              <a:rPr lang="ru-RU" dirty="0"/>
              <a:t>' = </a:t>
            </a:r>
            <a:r>
              <a:rPr lang="ru-RU" dirty="0" err="1" smtClean="0"/>
              <a:t>X</a:t>
            </a:r>
            <a:r>
              <a:rPr lang="ru-RU" dirty="0" err="1" smtClean="0">
                <a:sym typeface="Symbol" panose="05050102010706020507" pitchFamily="18" charset="2"/>
              </a:rPr>
              <a:t></a:t>
            </a:r>
            <a:r>
              <a:rPr lang="ru-RU" dirty="0" err="1" smtClean="0"/>
              <a:t>s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b="1" dirty="0"/>
              <a:t>Проекция (</a:t>
            </a:r>
            <a:r>
              <a:rPr lang="ru-RU" b="1" dirty="0" err="1"/>
              <a:t>Projection</a:t>
            </a:r>
            <a:r>
              <a:rPr lang="ru-RU" b="1" dirty="0"/>
              <a:t>):</a:t>
            </a:r>
            <a:r>
              <a:rPr lang="ru-RU" dirty="0"/>
              <a:t> 1x1 свертка сжимает каналы обратно до целевого размера.</a:t>
            </a:r>
          </a:p>
          <a:p>
            <a:r>
              <a:rPr lang="ru-RU" b="1" dirty="0" err="1"/>
              <a:t>Skip-connection</a:t>
            </a:r>
            <a:r>
              <a:rPr lang="ru-RU" b="1" dirty="0"/>
              <a:t>:</a:t>
            </a:r>
            <a:r>
              <a:rPr lang="ru-RU" dirty="0"/>
              <a:t> добавляется, если шаг </a:t>
            </a:r>
            <a:r>
              <a:rPr lang="ru-RU" dirty="0" err="1"/>
              <a:t>stride</a:t>
            </a:r>
            <a:r>
              <a:rPr lang="ru-RU" dirty="0"/>
              <a:t>=1 и число входных/выходных каналов совпадает.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1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Где применять в </a:t>
            </a:r>
            <a:r>
              <a:rPr lang="ru-RU" b="1" dirty="0" err="1"/>
              <a:t>Transfer</a:t>
            </a:r>
            <a:r>
              <a:rPr lang="ru-RU" b="1" dirty="0"/>
              <a:t> </a:t>
            </a:r>
            <a:r>
              <a:rPr lang="ru-RU" b="1" dirty="0" err="1" smtClean="0"/>
              <a:t>Learning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Edge</a:t>
            </a:r>
            <a:r>
              <a:rPr lang="ru-RU" dirty="0" smtClean="0"/>
              <a:t>-устройства </a:t>
            </a:r>
            <a:r>
              <a:rPr lang="ru-RU" dirty="0"/>
              <a:t>(смартфоны, IoT), мобильные приложения, </a:t>
            </a:r>
            <a:r>
              <a:rPr lang="ru-RU" dirty="0" err="1"/>
              <a:t>мультизадачное</a:t>
            </a:r>
            <a:r>
              <a:rPr lang="ru-RU" dirty="0"/>
              <a:t> обучение. Идеален как мощный </a:t>
            </a:r>
            <a:r>
              <a:rPr lang="ru-RU" dirty="0" err="1"/>
              <a:t>энкодер</a:t>
            </a:r>
            <a:r>
              <a:rPr lang="ru-RU" dirty="0"/>
              <a:t> (</a:t>
            </a:r>
            <a:r>
              <a:rPr lang="ru-RU" dirty="0" err="1"/>
              <a:t>backbone</a:t>
            </a:r>
            <a:r>
              <a:rPr lang="ru-RU" dirty="0"/>
              <a:t>) для детекции объектов (SSD, YOLO, </a:t>
            </a:r>
            <a:r>
              <a:rPr lang="ru-RU" dirty="0" err="1"/>
              <a:t>Faster</a:t>
            </a:r>
            <a:r>
              <a:rPr lang="ru-RU" dirty="0"/>
              <a:t> R-CNN) и сегментации, когда критичны задержки и потребление памяти. Отличный выбор для </a:t>
            </a:r>
            <a:r>
              <a:rPr lang="ru-RU" dirty="0" err="1"/>
              <a:t>fine-tuning</a:t>
            </a:r>
            <a:r>
              <a:rPr lang="ru-RU" dirty="0"/>
              <a:t> в условиях жестких вычислительных ограничений.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6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5</a:t>
            </a:r>
            <a:r>
              <a:rPr lang="ru-RU" b="1" dirty="0"/>
              <a:t>. Стратегии</a:t>
            </a:r>
            <a:r>
              <a:rPr lang="en-US" b="1" dirty="0"/>
              <a:t> transfer learning </a:t>
            </a:r>
            <a:r>
              <a:rPr lang="ru-RU" b="1" dirty="0"/>
              <a:t>на практике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89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5.1 </a:t>
            </a:r>
            <a:r>
              <a:rPr lang="en-US" b="1" dirty="0"/>
              <a:t>Feature Extractor (</a:t>
            </a:r>
            <a:r>
              <a:rPr lang="ru-RU" b="1" dirty="0"/>
              <a:t>заморозить всё</a:t>
            </a:r>
            <a:r>
              <a:rPr lang="en-US" b="1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 </a:t>
            </a:r>
            <a:r>
              <a:rPr lang="en-US" dirty="0"/>
              <a:t>= models.resnet50(weights='IMAGENET1K_V1')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param</a:t>
            </a:r>
            <a:r>
              <a:rPr lang="en-US" dirty="0"/>
              <a:t> in </a:t>
            </a:r>
            <a:r>
              <a:rPr lang="en-US" dirty="0" err="1"/>
              <a:t>model.parameters</a:t>
            </a:r>
            <a:r>
              <a:rPr lang="en-US" dirty="0"/>
              <a:t>():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param.requires_grad</a:t>
            </a:r>
            <a:r>
              <a:rPr lang="en-US" dirty="0"/>
              <a:t> = False   # </a:t>
            </a:r>
            <a:r>
              <a:rPr lang="ru-RU" dirty="0"/>
              <a:t>заморозить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model.fc</a:t>
            </a:r>
            <a:r>
              <a:rPr lang="en-US" dirty="0"/>
              <a:t> = </a:t>
            </a:r>
            <a:r>
              <a:rPr lang="en-US" dirty="0" err="1"/>
              <a:t>nn.Linear</a:t>
            </a:r>
            <a:r>
              <a:rPr lang="en-US" dirty="0"/>
              <a:t>(</a:t>
            </a:r>
            <a:r>
              <a:rPr lang="en-US" dirty="0" err="1"/>
              <a:t>model.fc.in_features</a:t>
            </a:r>
            <a:r>
              <a:rPr lang="en-US" dirty="0"/>
              <a:t>, </a:t>
            </a:r>
            <a:r>
              <a:rPr lang="en-US" dirty="0" err="1"/>
              <a:t>num_classes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# </a:t>
            </a:r>
            <a:r>
              <a:rPr lang="ru-RU" dirty="0"/>
              <a:t>Обучается только</a:t>
            </a:r>
            <a:r>
              <a:rPr lang="en-US" dirty="0"/>
              <a:t> </a:t>
            </a:r>
            <a:r>
              <a:rPr lang="en-US" dirty="0" err="1"/>
              <a:t>model.fc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70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5.2 </a:t>
            </a:r>
            <a:r>
              <a:rPr lang="ru-RU" b="1" dirty="0" err="1"/>
              <a:t>Fine-Tuning</a:t>
            </a:r>
            <a:r>
              <a:rPr lang="ru-RU" b="1" dirty="0"/>
              <a:t> (частичный): только последние слои </a:t>
            </a:r>
            <a:r>
              <a:rPr lang="ru-RU" b="1" dirty="0" err="1"/>
              <a:t>backbone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</a:t>
            </a:r>
            <a:r>
              <a:rPr lang="en-US" dirty="0" err="1"/>
              <a:t>param</a:t>
            </a:r>
            <a:r>
              <a:rPr lang="en-US" dirty="0"/>
              <a:t> in model.layer4.parameters():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param.requires_grad</a:t>
            </a:r>
            <a:r>
              <a:rPr lang="en-US" dirty="0"/>
              <a:t> = True</a:t>
            </a:r>
            <a:br>
              <a:rPr lang="en-US" dirty="0"/>
            </a:br>
            <a:r>
              <a:rPr lang="en-US" dirty="0"/>
              <a:t># </a:t>
            </a:r>
            <a:r>
              <a:rPr lang="ru-RU" dirty="0"/>
              <a:t>Разные</a:t>
            </a:r>
            <a:r>
              <a:rPr lang="en-US" dirty="0"/>
              <a:t> </a:t>
            </a:r>
            <a:r>
              <a:rPr lang="en-US" dirty="0" err="1"/>
              <a:t>lr</a:t>
            </a:r>
            <a:r>
              <a:rPr lang="en-US" dirty="0"/>
              <a:t> </a:t>
            </a:r>
            <a:r>
              <a:rPr lang="ru-RU" dirty="0"/>
              <a:t>для</a:t>
            </a:r>
            <a:r>
              <a:rPr lang="en-US" dirty="0"/>
              <a:t> backbone (</a:t>
            </a:r>
            <a:r>
              <a:rPr lang="ru-RU" dirty="0"/>
              <a:t>маленький</a:t>
            </a:r>
            <a:r>
              <a:rPr lang="en-US" dirty="0"/>
              <a:t>) </a:t>
            </a:r>
            <a:r>
              <a:rPr lang="ru-RU" dirty="0"/>
              <a:t>и</a:t>
            </a:r>
            <a:r>
              <a:rPr lang="en-US" dirty="0"/>
              <a:t> head (</a:t>
            </a:r>
            <a:r>
              <a:rPr lang="ru-RU" dirty="0"/>
              <a:t>большой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optimizer = </a:t>
            </a:r>
            <a:r>
              <a:rPr lang="en-US" dirty="0" err="1"/>
              <a:t>optim.SGD</a:t>
            </a:r>
            <a:r>
              <a:rPr lang="en-US" dirty="0"/>
              <a:t>([</a:t>
            </a:r>
            <a:br>
              <a:rPr lang="en-US" dirty="0"/>
            </a:br>
            <a:r>
              <a:rPr lang="en-US" dirty="0"/>
              <a:t>    {'</a:t>
            </a:r>
            <a:r>
              <a:rPr lang="en-US" dirty="0" err="1"/>
              <a:t>params</a:t>
            </a:r>
            <a:r>
              <a:rPr lang="en-US" dirty="0"/>
              <a:t>': model.layer4.parameters(), '</a:t>
            </a:r>
            <a:r>
              <a:rPr lang="en-US" dirty="0" err="1"/>
              <a:t>lr</a:t>
            </a:r>
            <a:r>
              <a:rPr lang="en-US" dirty="0"/>
              <a:t>': 1e-4},</a:t>
            </a:r>
            <a:br>
              <a:rPr lang="en-US" dirty="0"/>
            </a:br>
            <a:r>
              <a:rPr lang="en-US" dirty="0"/>
              <a:t>    {'</a:t>
            </a:r>
            <a:r>
              <a:rPr lang="en-US" dirty="0" err="1"/>
              <a:t>params</a:t>
            </a:r>
            <a:r>
              <a:rPr lang="en-US" dirty="0"/>
              <a:t>': </a:t>
            </a:r>
            <a:r>
              <a:rPr lang="en-US" dirty="0" err="1"/>
              <a:t>model.fc.parameters</a:t>
            </a:r>
            <a:r>
              <a:rPr lang="en-US" dirty="0"/>
              <a:t>(),     '</a:t>
            </a:r>
            <a:r>
              <a:rPr lang="en-US" dirty="0" err="1"/>
              <a:t>lr</a:t>
            </a:r>
            <a:r>
              <a:rPr lang="en-US" dirty="0"/>
              <a:t>': 1e-3},</a:t>
            </a:r>
            <a:br>
              <a:rPr lang="en-US" dirty="0"/>
            </a:br>
            <a:r>
              <a:rPr lang="en-US" dirty="0"/>
              <a:t>], momentum=0.9)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39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5.3 </a:t>
            </a:r>
            <a:r>
              <a:rPr lang="en-US" b="1" dirty="0"/>
              <a:t>Full Fine-Tuning (</a:t>
            </a:r>
            <a:r>
              <a:rPr lang="ru-RU" b="1" dirty="0"/>
              <a:t>разморозить всё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Рекомендуется </a:t>
            </a:r>
            <a:r>
              <a:rPr lang="ru-RU" dirty="0"/>
              <a:t>при большом датасете или когда данные сильно отличаются от </a:t>
            </a:r>
            <a:r>
              <a:rPr lang="ru-RU" dirty="0" err="1"/>
              <a:t>ImageNet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Обязательно используйте маленький </a:t>
            </a:r>
            <a:r>
              <a:rPr lang="ru-RU" dirty="0" err="1"/>
              <a:t>lr</a:t>
            </a:r>
            <a:r>
              <a:rPr lang="ru-RU" dirty="0"/>
              <a:t> для всего </a:t>
            </a:r>
            <a:r>
              <a:rPr lang="ru-RU" dirty="0" err="1"/>
              <a:t>backbone</a:t>
            </a:r>
            <a:r>
              <a:rPr lang="ru-RU" dirty="0"/>
              <a:t> (~1e-4 или меньше</a:t>
            </a:r>
            <a:r>
              <a:rPr lang="ru-RU" dirty="0" smtClean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71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Шаблон в оформлении «Облачный шкипер»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3665955_TF03460508.potx" id="{5DFBD78C-123E-43C4-B1D8-C87BD0916EA4}" vid="{61EFFEBC-D632-4584-AAF5-CCDDDB22578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DD01B8-816B-49B7-8C81-03AB51D87C5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Слайды в оформлении «Облачный шкипер»</Template>
  <TotalTime>100</TotalTime>
  <Words>1371</Words>
  <Application>Microsoft Office PowerPoint</Application>
  <PresentationFormat>Широкоэкранный</PresentationFormat>
  <Paragraphs>108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2" baseType="lpstr">
      <vt:lpstr>Arial</vt:lpstr>
      <vt:lpstr>Calibri</vt:lpstr>
      <vt:lpstr>Cambria</vt:lpstr>
      <vt:lpstr>Cambria Math</vt:lpstr>
      <vt:lpstr>Georgia</vt:lpstr>
      <vt:lpstr>source sans 3</vt:lpstr>
      <vt:lpstr>source serif 4</vt:lpstr>
      <vt:lpstr>Symbol</vt:lpstr>
      <vt:lpstr>Times New Roman</vt:lpstr>
      <vt:lpstr>Шаблон в оформлении «Облачный шкипер»</vt:lpstr>
      <vt:lpstr>Transfer Learning с CNN (ResNet, DenseNet, EfficientNet)</vt:lpstr>
      <vt:lpstr>1. Почему transfer learning?</vt:lpstr>
      <vt:lpstr>1. Почему transfer learning?</vt:lpstr>
      <vt:lpstr>2. Архитектура ResNet</vt:lpstr>
      <vt:lpstr>Презентация PowerPoint</vt:lpstr>
      <vt:lpstr>Схема BasicBlock (ResNet-18/34)</vt:lpstr>
      <vt:lpstr>Bottleneck блок (ResNet-50/101/152)</vt:lpstr>
      <vt:lpstr>Варианты ResNet</vt:lpstr>
      <vt:lpstr>Презентация PowerPoint</vt:lpstr>
      <vt:lpstr>Структура ResNet-50 (backbone для feature extraction):</vt:lpstr>
      <vt:lpstr>3. Архитектура DenseNet (плотные связи)</vt:lpstr>
      <vt:lpstr>Dense Block</vt:lpstr>
      <vt:lpstr>Transition Layer и Growth Rate</vt:lpstr>
      <vt:lpstr>Преимущества DenseNet:</vt:lpstr>
      <vt:lpstr>4. Архитектура EfficientNet (масштабирование всей сети целиком)</vt:lpstr>
      <vt:lpstr>Compound Scaling (Сложное масштабирование)</vt:lpstr>
      <vt:lpstr>Презентация PowerPoint</vt:lpstr>
      <vt:lpstr>Где применять в Transfer Learning</vt:lpstr>
      <vt:lpstr>5. Стратегии transfer learning на практике</vt:lpstr>
      <vt:lpstr>5.1 Feature Extractor (заморозить всё)</vt:lpstr>
      <vt:lpstr>5.2 Fine-Tuning (частичный): только последние слои backbone</vt:lpstr>
      <vt:lpstr>5.3 Full Fine-Tuning (разморозить всё)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 заголовка</dc:title>
  <dc:creator>Сергей Н. Ткаченко</dc:creator>
  <cp:lastModifiedBy>Сергей Н. Ткаченко</cp:lastModifiedBy>
  <cp:revision>41</cp:revision>
  <dcterms:created xsi:type="dcterms:W3CDTF">2026-08-24T09:09:28Z</dcterms:created>
  <dcterms:modified xsi:type="dcterms:W3CDTF">2026-09-21T10:39:41Z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