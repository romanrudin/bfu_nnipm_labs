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40"/>
  </p:notesMasterIdLst>
  <p:handoutMasterIdLst>
    <p:handoutMasterId r:id="rId41"/>
  </p:handoutMasterIdLst>
  <p:sldIdLst>
    <p:sldId id="265" r:id="rId5"/>
    <p:sldId id="270" r:id="rId6"/>
    <p:sldId id="271" r:id="rId7"/>
    <p:sldId id="274" r:id="rId8"/>
    <p:sldId id="273" r:id="rId9"/>
    <p:sldId id="275" r:id="rId10"/>
    <p:sldId id="276" r:id="rId11"/>
    <p:sldId id="277" r:id="rId12"/>
    <p:sldId id="281" r:id="rId13"/>
    <p:sldId id="280" r:id="rId14"/>
    <p:sldId id="282" r:id="rId15"/>
    <p:sldId id="283" r:id="rId16"/>
    <p:sldId id="294" r:id="rId17"/>
    <p:sldId id="293" r:id="rId18"/>
    <p:sldId id="295" r:id="rId19"/>
    <p:sldId id="296" r:id="rId20"/>
    <p:sldId id="297" r:id="rId21"/>
    <p:sldId id="288" r:id="rId22"/>
    <p:sldId id="304" r:id="rId23"/>
    <p:sldId id="289" r:id="rId24"/>
    <p:sldId id="305" r:id="rId25"/>
    <p:sldId id="306" r:id="rId26"/>
    <p:sldId id="291" r:id="rId27"/>
    <p:sldId id="298" r:id="rId28"/>
    <p:sldId id="307" r:id="rId29"/>
    <p:sldId id="308" r:id="rId30"/>
    <p:sldId id="299" r:id="rId31"/>
    <p:sldId id="300" r:id="rId32"/>
    <p:sldId id="309" r:id="rId33"/>
    <p:sldId id="301" r:id="rId34"/>
    <p:sldId id="302" r:id="rId35"/>
    <p:sldId id="310" r:id="rId36"/>
    <p:sldId id="303" r:id="rId37"/>
    <p:sldId id="311" r:id="rId38"/>
    <p:sldId id="312" r:id="rId3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843" autoAdjust="0"/>
  </p:normalViewPr>
  <p:slideViewPr>
    <p:cSldViewPr snapToGrid="0" showGuides="1"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0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DDCB7EC-CEDA-42D5-8A0A-747B258F7B12}" type="datetime1">
              <a:rPr lang="ru-RU" smtClean="0"/>
              <a:t>11.09.2026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78FE58C-C1A6-4C4C-90C2-B7F5B0504B2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46050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7BBAA-8962-46BE-8131-E6CE08071E10}" type="datetime1">
              <a:rPr lang="ru-RU" smtClean="0"/>
              <a:pPr/>
              <a:t>11.09.2026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10E1E9A-E921-4174-A0FC-51868D7AC568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78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10E1E9A-E921-4174-A0FC-51868D7AC56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918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smtClean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A2AAF71-7088-4082-A4B5-5D2286FF71AE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46705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566367"/>
          </a:xfrm>
        </p:spPr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62100" y="1145136"/>
            <a:ext cx="9791700" cy="5031827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50B887-75E0-4C5B-AF37-E33049182621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9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1658" y="1709738"/>
            <a:ext cx="10105791" cy="2862262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41658" y="4589463"/>
            <a:ext cx="10105791" cy="1500187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ru-RU" noProof="0" dirty="0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379668-2161-488D-96B8-6A859D0F15B4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6768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569700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605325" y="1825625"/>
            <a:ext cx="475488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939C50-7762-4792-95E1-E7874CF6E4AE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274638"/>
            <a:ext cx="9023350" cy="1143000"/>
          </a:xfrm>
        </p:spPr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56210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98920" y="1489075"/>
            <a:ext cx="4754880" cy="641350"/>
          </a:xfrm>
          <a:noFill/>
          <a:ln>
            <a:noFill/>
          </a:ln>
        </p:spPr>
        <p:txBody>
          <a:bodyPr rtlCol="0" anchor="b"/>
          <a:lstStyle>
            <a:lvl1pPr marL="0" indent="0">
              <a:buNone/>
              <a:defRPr sz="2400" b="0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98920" y="2193925"/>
            <a:ext cx="475488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01220-6B3C-4719-8281-16AA8BA3EF64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3166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D7245F-B3C7-4358-926A-1EE496656B67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1058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2D0A9D0-FD05-4374-8990-9A13D81CB546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514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78905" y="987425"/>
            <a:ext cx="5676483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970C57-C6EC-43E3-AE3A-40D83CDB2BD6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871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724B01-8CDF-43F1-A896-03E2F79CCBAE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1935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1825625"/>
            <a:ext cx="9791700" cy="43513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05DDED-C00D-420D-BCCC-88709E63D747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188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562100" y="365125"/>
            <a:ext cx="7010400" cy="5811838"/>
          </a:xfrm>
        </p:spPr>
        <p:txBody>
          <a:bodyPr vert="eaVert"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DCCF59-F12C-4B22-A0B5-0569E7EBF814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883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562100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3" name="Рисунок 2" descr="Пустой заполнитель, вместо которого можно добавить изображение. Щелкните заполнитель и выберите изображение, которое необходимо добавить"/>
          <p:cNvSpPr>
            <a:spLocks noGrp="1"/>
          </p:cNvSpPr>
          <p:nvPr>
            <p:ph type="pic" idx="1"/>
          </p:nvPr>
        </p:nvSpPr>
        <p:spPr>
          <a:xfrm>
            <a:off x="5678904" y="987425"/>
            <a:ext cx="5678424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1562100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30E92-8550-4A93-A5ED-7A5CF78928CB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1B7BAC7-FE87-40F6-AA24-4F4685D1B022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1388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0" y="365125"/>
            <a:ext cx="90297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562100" y="1179320"/>
            <a:ext cx="9791700" cy="4997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Образец текста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562100" y="6356350"/>
            <a:ext cx="2552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C3194B10-7A25-4893-8C5C-B707DE59842E}" type="datetime1">
              <a:rPr lang="ru-RU" noProof="0" smtClean="0"/>
              <a:t>11.09.2026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Добавить нижний колонтитул</a:t>
            </a:r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1B7BAC7-FE87-40F6-AA24-4F4685D1B022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1936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1464" userDrawn="1">
          <p15:clr>
            <a:srgbClr val="F26B43"/>
          </p15:clr>
        </p15:guide>
        <p15:guide id="3" pos="7152" userDrawn="1">
          <p15:clr>
            <a:srgbClr val="F26B43"/>
          </p15:clr>
        </p15:guide>
        <p15:guide id="4" pos="984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r>
              <a:rPr lang="ru-RU" b="1" dirty="0"/>
              <a:t>Предобработка и аугментации изображений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u-RU" dirty="0" smtClean="0"/>
              <a:t>Занятие </a:t>
            </a:r>
            <a:r>
              <a:rPr lang="ru-RU" dirty="0" smtClean="0"/>
              <a:t>0</a:t>
            </a:r>
            <a:r>
              <a:rPr lang="en-US" dirty="0" smtClean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07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Цели занятия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Разобраться, что такое предобработка изображений и зачем она нужна перед обучением нейросети.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Освоить основные геометрические и фотометрические аугментации.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Научиться строить </a:t>
            </a:r>
            <a:r>
              <a:rPr lang="ru-RU" dirty="0" err="1"/>
              <a:t>пайплайны</a:t>
            </a:r>
            <a:r>
              <a:rPr lang="ru-RU" dirty="0"/>
              <a:t> трансформаций в </a:t>
            </a:r>
            <a:r>
              <a:rPr lang="ru-RU" dirty="0" err="1"/>
              <a:t>torchvision.transforms</a:t>
            </a:r>
            <a:r>
              <a:rPr lang="ru-RU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dirty="0"/>
              <a:t>Понять, как правильно синхронизировать аугментации для задач сегментации.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Изучить библиотеку </a:t>
            </a:r>
            <a:r>
              <a:rPr lang="ru-RU" dirty="0" err="1"/>
              <a:t>Albumentations</a:t>
            </a:r>
            <a:r>
              <a:rPr lang="ru-RU" dirty="0"/>
              <a:t> как альтернативу </a:t>
            </a:r>
            <a:r>
              <a:rPr lang="ru-RU" dirty="0" err="1"/>
              <a:t>torchvision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29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</a:t>
            </a:r>
            <a:r>
              <a:rPr lang="ru-RU" b="1" dirty="0"/>
              <a:t>Зачем нужна </a:t>
            </a:r>
            <a:r>
              <a:rPr lang="ru-RU" b="1" dirty="0" smtClean="0"/>
              <a:t>предобработка</a:t>
            </a:r>
            <a:r>
              <a:rPr lang="ru-RU" b="1" dirty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Сырые изображения из разных источников могут сильно отличаться по размеру, диапазону значений пикселей, цветовому пространству и формату. Нейронная сеть ожидает на входе тензоры фиксированной формы с </a:t>
            </a:r>
            <a:r>
              <a:rPr lang="ru-RU" dirty="0" smtClean="0"/>
              <a:t>определенными </a:t>
            </a:r>
            <a:r>
              <a:rPr lang="ru-RU" dirty="0"/>
              <a:t>статистическими характеристиками. Предобработка решает эту задачу.</a:t>
            </a:r>
          </a:p>
          <a:p>
            <a:r>
              <a:rPr lang="ru-RU" dirty="0"/>
              <a:t>Основные цели предобработки: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b="1" dirty="0"/>
              <a:t>Унификация размера</a:t>
            </a:r>
            <a:r>
              <a:rPr lang="ru-RU" dirty="0"/>
              <a:t>: изображения приводятся к одному размеру, чтобы можно было собирать их в </a:t>
            </a:r>
            <a:r>
              <a:rPr lang="ru-RU" dirty="0" err="1"/>
              <a:t>батч</a:t>
            </a:r>
            <a:r>
              <a:rPr lang="ru-RU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b="1" dirty="0"/>
              <a:t>Приведение диапазона</a:t>
            </a:r>
            <a:r>
              <a:rPr lang="ru-RU" dirty="0"/>
              <a:t>: пиксели uint8 [0, 255] переводятся в float32 [0.0, 1.0].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b="1" dirty="0"/>
              <a:t>Нормализация</a:t>
            </a:r>
            <a:r>
              <a:rPr lang="ru-RU" dirty="0"/>
              <a:t>: значения центрируются и масштабируются, чтобы ускорить сходимость.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1" dirty="0"/>
              <a:t>Унификация цветового пространства</a:t>
            </a:r>
            <a:r>
              <a:rPr lang="ru-RU" dirty="0"/>
              <a:t>: обычно используется RGB; при необходимости BGR (</a:t>
            </a:r>
            <a:r>
              <a:rPr lang="ru-RU" dirty="0" err="1"/>
              <a:t>OpenCV</a:t>
            </a:r>
            <a:r>
              <a:rPr lang="ru-RU" dirty="0"/>
              <a:t>) конвертируется.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577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</a:t>
            </a:r>
            <a:r>
              <a:rPr lang="ru-RU" b="1" dirty="0"/>
              <a:t>Нормализация: теория и практика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2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2.1 </a:t>
            </a:r>
            <a:r>
              <a:rPr lang="ru-RU" b="1" dirty="0"/>
              <a:t>Зачем нормализовать?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Необработанные пиксельные значения [0, 255] приводят к тому, что входы в нейросеть разных каналов имеют разные масштабы и ненулевое среднее. Это замедляет обучение: функция потерь становится «вытянутым» эллипсом в пространстве весов, и градиентный спуск плохо сходится.</a:t>
            </a:r>
          </a:p>
          <a:p>
            <a:r>
              <a:rPr lang="ru-RU" dirty="0"/>
              <a:t>После нормализации каждый канал имеет нулевое среднее и единичное стандартное отклонение, что приближает входное распределение к нормальному. Это значительно улучшает работу оптимизаторов (SGD, </a:t>
            </a:r>
            <a:r>
              <a:rPr lang="ru-RU" dirty="0" err="1"/>
              <a:t>Adam</a:t>
            </a:r>
            <a:r>
              <a:rPr lang="ru-RU" dirty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998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2.2 </a:t>
            </a:r>
            <a:r>
              <a:rPr lang="ru-RU" b="1" dirty="0"/>
              <a:t>Формула нормализации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каждого канала c:</a:t>
            </a:r>
          </a:p>
          <a:p>
            <a:r>
              <a:rPr lang="en-US" dirty="0" err="1"/>
              <a:t>pixel_norm</a:t>
            </a:r>
            <a:r>
              <a:rPr lang="en-US" dirty="0"/>
              <a:t>[c] = (pixel[c] - mean[c]) / </a:t>
            </a:r>
            <a:r>
              <a:rPr lang="en-US" dirty="0" err="1"/>
              <a:t>std</a:t>
            </a:r>
            <a:r>
              <a:rPr lang="en-US" dirty="0"/>
              <a:t>[c]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30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2.3 </a:t>
            </a:r>
            <a:r>
              <a:rPr lang="ru-RU" b="1" dirty="0"/>
              <a:t>Стандартные значения </a:t>
            </a:r>
            <a:r>
              <a:rPr lang="ru-RU" b="1" dirty="0" err="1"/>
              <a:t>mean</a:t>
            </a:r>
            <a:r>
              <a:rPr lang="ru-RU" b="1" dirty="0"/>
              <a:t>/</a:t>
            </a:r>
            <a:r>
              <a:rPr lang="ru-RU" b="1" dirty="0" err="1"/>
              <a:t>std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Стандартные значения рассчитаны по всему обучающему датасету </a:t>
            </a:r>
            <a:r>
              <a:rPr lang="ru-RU" dirty="0" err="1"/>
              <a:t>ImageNet</a:t>
            </a:r>
            <a:r>
              <a:rPr lang="ru-RU" dirty="0"/>
              <a:t> и обычно переносятся (</a:t>
            </a:r>
            <a:r>
              <a:rPr lang="ru-RU" dirty="0" err="1"/>
              <a:t>transfer</a:t>
            </a:r>
            <a:r>
              <a:rPr lang="ru-RU" dirty="0"/>
              <a:t>):</a:t>
            </a:r>
          </a:p>
          <a:p>
            <a:pPr lvl="0"/>
            <a:r>
              <a:rPr lang="ru-RU" b="1" dirty="0" err="1"/>
              <a:t>ImageNet</a:t>
            </a:r>
            <a:r>
              <a:rPr lang="ru-RU" dirty="0"/>
              <a:t>: </a:t>
            </a:r>
            <a:r>
              <a:rPr lang="ru-RU" dirty="0" err="1"/>
              <a:t>mean</a:t>
            </a:r>
            <a:r>
              <a:rPr lang="ru-RU" dirty="0"/>
              <a:t> = (0.485, 0.456, 0.406), </a:t>
            </a:r>
            <a:endParaRPr lang="ru-RU" dirty="0" smtClean="0"/>
          </a:p>
          <a:p>
            <a:pPr lvl="0"/>
            <a:r>
              <a:rPr lang="ru-RU" dirty="0" err="1" smtClean="0"/>
              <a:t>std</a:t>
            </a:r>
            <a:r>
              <a:rPr lang="ru-RU" dirty="0" smtClean="0"/>
              <a:t> </a:t>
            </a:r>
            <a:r>
              <a:rPr lang="ru-RU" dirty="0"/>
              <a:t>= (0.229, 0.224, 0.225)</a:t>
            </a:r>
          </a:p>
          <a:p>
            <a:pPr lvl="0"/>
            <a:r>
              <a:rPr lang="ru-RU" b="1" dirty="0"/>
              <a:t>CIFAR-10</a:t>
            </a:r>
            <a:r>
              <a:rPr lang="ru-RU" dirty="0"/>
              <a:t>: </a:t>
            </a:r>
            <a:r>
              <a:rPr lang="ru-RU" dirty="0" err="1"/>
              <a:t>mean</a:t>
            </a:r>
            <a:r>
              <a:rPr lang="ru-RU" dirty="0"/>
              <a:t> = (0.4914, 0.4822, 0.4465), </a:t>
            </a:r>
            <a:r>
              <a:rPr lang="ru-RU" dirty="0" smtClean="0"/>
              <a:t>s</a:t>
            </a:r>
          </a:p>
          <a:p>
            <a:pPr lvl="0"/>
            <a:r>
              <a:rPr lang="ru-RU" dirty="0" err="1" smtClean="0"/>
              <a:t>td</a:t>
            </a:r>
            <a:r>
              <a:rPr lang="ru-RU" dirty="0" smtClean="0"/>
              <a:t> </a:t>
            </a:r>
            <a:r>
              <a:rPr lang="ru-RU" dirty="0"/>
              <a:t>= (0.2470, 0.2435, 0.2616)</a:t>
            </a:r>
          </a:p>
          <a:p>
            <a:r>
              <a:rPr lang="ru-RU" dirty="0"/>
              <a:t>Если вы обучаете с нуля на собственном датасете — лучше посчитать </a:t>
            </a:r>
            <a:r>
              <a:rPr lang="ru-RU" dirty="0" err="1"/>
              <a:t>mean</a:t>
            </a:r>
            <a:r>
              <a:rPr lang="ru-RU" dirty="0"/>
              <a:t>/</a:t>
            </a:r>
            <a:r>
              <a:rPr lang="ru-RU" dirty="0" err="1"/>
              <a:t>std</a:t>
            </a:r>
            <a:r>
              <a:rPr lang="ru-RU" dirty="0"/>
              <a:t> по вашим данным.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122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2.4 </a:t>
            </a:r>
            <a:r>
              <a:rPr lang="ru-RU" b="1" dirty="0"/>
              <a:t>Ошибка: нормализация на валидации/тесте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Важно:</a:t>
            </a:r>
            <a:r>
              <a:rPr lang="ru-RU" dirty="0"/>
              <a:t> нормализацию применяют и к обучающей, и к тестовой выборке </a:t>
            </a:r>
            <a:r>
              <a:rPr lang="ru-RU" dirty="0" smtClean="0"/>
              <a:t>- </a:t>
            </a:r>
            <a:r>
              <a:rPr lang="ru-RU" dirty="0"/>
              <a:t>но </a:t>
            </a:r>
            <a:r>
              <a:rPr lang="ru-RU" b="1" dirty="0"/>
              <a:t>аугментации</a:t>
            </a:r>
            <a:r>
              <a:rPr lang="ru-RU" dirty="0"/>
              <a:t> только к обучающей. На тесте применяют только </a:t>
            </a:r>
            <a:r>
              <a:rPr lang="ru-RU" dirty="0" err="1"/>
              <a:t>Resize</a:t>
            </a:r>
            <a:r>
              <a:rPr lang="ru-RU" dirty="0"/>
              <a:t>, </a:t>
            </a:r>
            <a:r>
              <a:rPr lang="ru-RU" dirty="0" err="1"/>
              <a:t>CenterCrop</a:t>
            </a:r>
            <a:r>
              <a:rPr lang="ru-RU" dirty="0"/>
              <a:t> и </a:t>
            </a:r>
            <a:r>
              <a:rPr lang="ru-RU" dirty="0" err="1"/>
              <a:t>Normalize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33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</a:t>
            </a:r>
            <a:r>
              <a:rPr lang="ru-RU" b="1" dirty="0"/>
              <a:t>Стандартные операции предобработки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1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3.1 </a:t>
            </a:r>
            <a:r>
              <a:rPr lang="ru-RU" b="1" dirty="0" err="1"/>
              <a:t>Resize</a:t>
            </a:r>
            <a:r>
              <a:rPr lang="ru-RU" b="1" dirty="0"/>
              <a:t> (изменение размера)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Приводит изображение к заданному размеру </a:t>
            </a:r>
            <a:r>
              <a:rPr lang="ru-RU" dirty="0" err="1"/>
              <a:t>HxW</a:t>
            </a:r>
            <a:r>
              <a:rPr lang="ru-RU" dirty="0"/>
              <a:t>. Применяется всегда — и при обучении, и при тесте.</a:t>
            </a:r>
          </a:p>
          <a:p>
            <a:r>
              <a:rPr lang="ru-RU" dirty="0" err="1"/>
              <a:t>transforms.Resize</a:t>
            </a:r>
            <a:r>
              <a:rPr lang="ru-RU" dirty="0"/>
              <a:t>((224, 224))          # строгий </a:t>
            </a:r>
            <a:r>
              <a:rPr lang="ru-RU" dirty="0" err="1"/>
              <a:t>resize</a:t>
            </a: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transforms.Resize</a:t>
            </a:r>
            <a:r>
              <a:rPr lang="ru-RU" dirty="0"/>
              <a:t>(256)                 # меньшая сторона → 256, сохраняет пропорции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9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3.2 </a:t>
            </a:r>
            <a:r>
              <a:rPr lang="ru-RU" b="1" dirty="0" err="1"/>
              <a:t>CenterCrop</a:t>
            </a:r>
            <a:r>
              <a:rPr lang="ru-RU" b="1" dirty="0"/>
              <a:t> / </a:t>
            </a:r>
            <a:r>
              <a:rPr lang="ru-RU" b="1" dirty="0" err="1"/>
              <a:t>RandomCrop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err="1"/>
              <a:t>CenterCrop</a:t>
            </a:r>
            <a:r>
              <a:rPr lang="ru-RU" dirty="0"/>
              <a:t>(</a:t>
            </a:r>
            <a:r>
              <a:rPr lang="ru-RU" dirty="0" err="1"/>
              <a:t>size</a:t>
            </a:r>
            <a:r>
              <a:rPr lang="ru-RU" dirty="0"/>
              <a:t>) — вырезает центральный фрагмент. Используется на валидации/тесте.</a:t>
            </a:r>
          </a:p>
          <a:p>
            <a:pPr lvl="0"/>
            <a:r>
              <a:rPr lang="ru-RU" dirty="0" err="1"/>
              <a:t>RandomCrop</a:t>
            </a:r>
            <a:r>
              <a:rPr lang="ru-RU" dirty="0"/>
              <a:t>(</a:t>
            </a:r>
            <a:r>
              <a:rPr lang="ru-RU" dirty="0" err="1"/>
              <a:t>size</a:t>
            </a:r>
            <a:r>
              <a:rPr lang="ru-RU" dirty="0"/>
              <a:t>, </a:t>
            </a:r>
            <a:r>
              <a:rPr lang="ru-RU" dirty="0" err="1"/>
              <a:t>padding</a:t>
            </a:r>
            <a:r>
              <a:rPr lang="ru-RU" dirty="0"/>
              <a:t>) — вырезает случайный фрагмент. Только при обучении.</a:t>
            </a:r>
          </a:p>
          <a:p>
            <a:r>
              <a:rPr lang="ru-RU" dirty="0"/>
              <a:t>Типичный </a:t>
            </a:r>
            <a:r>
              <a:rPr lang="ru-RU" dirty="0" err="1"/>
              <a:t>пайплайн</a:t>
            </a:r>
            <a:r>
              <a:rPr lang="ru-RU" dirty="0"/>
              <a:t> для</a:t>
            </a:r>
            <a:r>
              <a:rPr lang="en-US" dirty="0"/>
              <a:t> ImageNet: Resize(256) → </a:t>
            </a:r>
            <a:r>
              <a:rPr lang="en-US" dirty="0" err="1"/>
              <a:t>CenterCrop</a:t>
            </a:r>
            <a:r>
              <a:rPr lang="en-US" dirty="0"/>
              <a:t>(224).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5450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ToTensor</a:t>
            </a:r>
            <a:endParaRPr lang="ru-RU" dirty="0"/>
          </a:p>
          <a:p>
            <a:r>
              <a:rPr lang="ru-RU" dirty="0"/>
              <a:t>Конвертирует PIL </a:t>
            </a:r>
            <a:r>
              <a:rPr lang="ru-RU" dirty="0" err="1"/>
              <a:t>Image</a:t>
            </a:r>
            <a:r>
              <a:rPr lang="ru-RU" dirty="0"/>
              <a:t> или numpy-массив (H, W, C) в тензор (C, H, W) и масштабирует значения из [0, 255] в [0.0, 1.0].</a:t>
            </a:r>
          </a:p>
          <a:p>
            <a:r>
              <a:rPr lang="ru-RU" b="1" dirty="0" smtClean="0"/>
              <a:t>Нормализация </a:t>
            </a:r>
            <a:r>
              <a:rPr lang="ru-RU" b="1" dirty="0"/>
              <a:t>(</a:t>
            </a:r>
            <a:r>
              <a:rPr lang="ru-RU" b="1" dirty="0" err="1"/>
              <a:t>Normalize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Применяется после </a:t>
            </a:r>
            <a:r>
              <a:rPr lang="ru-RU" dirty="0" err="1"/>
              <a:t>ToTensor</a:t>
            </a:r>
            <a:r>
              <a:rPr lang="ru-RU" dirty="0"/>
              <a:t> и является последним шагом </a:t>
            </a:r>
            <a:r>
              <a:rPr lang="ru-RU" dirty="0" err="1"/>
              <a:t>пайплайна</a:t>
            </a:r>
            <a:r>
              <a:rPr lang="ru-RU" dirty="0"/>
              <a:t> предобработки.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60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4</a:t>
            </a:r>
            <a:r>
              <a:rPr lang="ru-RU" b="1" dirty="0" smtClean="0"/>
              <a:t>. </a:t>
            </a:r>
            <a:r>
              <a:rPr lang="ru-RU" b="1" dirty="0" smtClean="0"/>
              <a:t>Аугментации</a:t>
            </a:r>
            <a:r>
              <a:rPr lang="ru-RU" b="1" dirty="0"/>
              <a:t>: </a:t>
            </a:r>
            <a:r>
              <a:rPr lang="ru-RU" b="1" dirty="0" err="1"/>
              <a:t>теори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46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4.1 Что такое аугментация?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Аугментация — это применение случайных трансформаций к обучающим данным для увеличения эффективного объема и разнообразия датасета. Аугментации должны </a:t>
            </a:r>
            <a:r>
              <a:rPr lang="ru-RU" b="1" dirty="0"/>
              <a:t>сохранять метку класса</a:t>
            </a:r>
            <a:r>
              <a:rPr lang="ru-RU" dirty="0"/>
              <a:t> (или координаты маски).</a:t>
            </a:r>
          </a:p>
          <a:p>
            <a:r>
              <a:rPr lang="ru-RU" dirty="0"/>
              <a:t>Аугментация решает две задачи:</a:t>
            </a:r>
          </a:p>
          <a:p>
            <a:pPr lvl="0"/>
            <a:r>
              <a:rPr lang="ru-RU" b="1" dirty="0"/>
              <a:t>Борьба с переобучением</a:t>
            </a:r>
            <a:r>
              <a:rPr lang="ru-RU" dirty="0"/>
              <a:t>: модель видит каждое изображение в разных «вариантах», что вынуждает ее учить более обобщенные признаки.</a:t>
            </a:r>
          </a:p>
          <a:p>
            <a:r>
              <a:rPr lang="ru-RU" b="1" dirty="0"/>
              <a:t>Имитация реальных вариаций</a:t>
            </a:r>
            <a:r>
              <a:rPr lang="ru-RU" dirty="0"/>
              <a:t>: различные условия съемки, освещение, ракурсы.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83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4.2 Геометрические </a:t>
            </a:r>
            <a:r>
              <a:rPr lang="ru-RU" b="1" dirty="0" smtClean="0"/>
              <a:t>аугментации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Изменяют </a:t>
            </a:r>
            <a:r>
              <a:rPr lang="ru-RU" dirty="0"/>
              <a:t>пространственную структуру изображения.</a:t>
            </a:r>
          </a:p>
          <a:p>
            <a:r>
              <a:rPr lang="ru-RU" b="1" dirty="0" err="1"/>
              <a:t>RandomHorizontalFlip</a:t>
            </a:r>
            <a:endParaRPr lang="ru-RU" dirty="0"/>
          </a:p>
          <a:p>
            <a:r>
              <a:rPr lang="ru-RU" dirty="0"/>
              <a:t>Случайное отражение по горизонтали с вероятностью p (обычно 0.5).</a:t>
            </a:r>
          </a:p>
          <a:p>
            <a:pPr lvl="0"/>
            <a:r>
              <a:rPr lang="ru-RU" b="1" dirty="0"/>
              <a:t>Когда использовать</a:t>
            </a:r>
            <a:r>
              <a:rPr lang="ru-RU" dirty="0"/>
              <a:t>: классификация большинства объектов, детекция, сегментация.</a:t>
            </a:r>
          </a:p>
          <a:p>
            <a:r>
              <a:rPr lang="ru-RU" b="1" dirty="0"/>
              <a:t>Когда НЕ использовать</a:t>
            </a:r>
            <a:r>
              <a:rPr lang="ru-RU" dirty="0"/>
              <a:t>: задачи, где ориентация имеет значение (например, распознавание букв, лево/право в медицинских снимках).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1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4.2 Геометрические </a:t>
            </a:r>
            <a:r>
              <a:rPr lang="ru-RU" b="1" dirty="0" smtClean="0"/>
              <a:t>аугментации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/>
              <a:t>RandomVerticalFlip</a:t>
            </a:r>
            <a:endParaRPr lang="ru-RU" dirty="0"/>
          </a:p>
          <a:p>
            <a:r>
              <a:rPr lang="ru-RU" dirty="0"/>
              <a:t>Случайное отражение по вертикали.</a:t>
            </a:r>
          </a:p>
          <a:p>
            <a:pPr lvl="0"/>
            <a:r>
              <a:rPr lang="ru-RU" b="1" dirty="0"/>
              <a:t>Когда использовать</a:t>
            </a:r>
            <a:r>
              <a:rPr lang="ru-RU" dirty="0"/>
              <a:t>: аэрофотосъемка, спутниковые снимки, гистология.</a:t>
            </a:r>
          </a:p>
          <a:p>
            <a:pPr lvl="0"/>
            <a:r>
              <a:rPr lang="ru-RU" b="1" dirty="0"/>
              <a:t>Когда НЕ использовать</a:t>
            </a:r>
            <a:r>
              <a:rPr lang="ru-RU" dirty="0"/>
              <a:t>: классификация природных изображений (кошки вверх ногами — редкость).</a:t>
            </a:r>
          </a:p>
          <a:p>
            <a:r>
              <a:rPr lang="ru-RU" b="1" dirty="0" err="1"/>
              <a:t>RandomRotation</a:t>
            </a:r>
            <a:endParaRPr lang="ru-RU" dirty="0"/>
          </a:p>
          <a:p>
            <a:r>
              <a:rPr lang="ru-RU" dirty="0"/>
              <a:t>Случайный поворот на угол в диапазоне [-</a:t>
            </a:r>
            <a:r>
              <a:rPr lang="ru-RU" dirty="0" err="1"/>
              <a:t>degrees</a:t>
            </a:r>
            <a:r>
              <a:rPr lang="ru-RU" dirty="0"/>
              <a:t>, +</a:t>
            </a:r>
            <a:r>
              <a:rPr lang="ru-RU" dirty="0" err="1"/>
              <a:t>degrees</a:t>
            </a:r>
            <a:r>
              <a:rPr lang="ru-RU" dirty="0"/>
              <a:t>].</a:t>
            </a:r>
          </a:p>
          <a:p>
            <a:pPr lvl="0"/>
            <a:r>
              <a:rPr lang="ru-RU" b="1" dirty="0"/>
              <a:t>Когда использовать</a:t>
            </a:r>
            <a:r>
              <a:rPr lang="ru-RU" dirty="0"/>
              <a:t>: медицинские снимки (клетки, органы не имеют «правильной» ориентации), спутниковые снимки.</a:t>
            </a:r>
          </a:p>
          <a:p>
            <a:pPr lvl="0"/>
            <a:r>
              <a:rPr lang="ru-RU" b="1" dirty="0"/>
              <a:t>Рекомендуемый диапазон</a:t>
            </a:r>
            <a:r>
              <a:rPr lang="ru-RU" dirty="0"/>
              <a:t>: 5–15° для природных изображений, ±90° или ±180° для медицины/RS.</a:t>
            </a:r>
          </a:p>
          <a:p>
            <a:r>
              <a:rPr lang="ru-RU" b="1" dirty="0"/>
              <a:t>Осторожно</a:t>
            </a:r>
            <a:r>
              <a:rPr lang="ru-RU" dirty="0"/>
              <a:t>: большие углы для задач детекции/сегментации требуют синхронного поворота масок/боксов.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6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4.2 Геометрические </a:t>
            </a:r>
            <a:r>
              <a:rPr lang="ru-RU" b="1" dirty="0" smtClean="0"/>
              <a:t>аугментации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RandomCrop</a:t>
            </a:r>
            <a:r>
              <a:rPr lang="ru-RU" b="1" dirty="0"/>
              <a:t> / </a:t>
            </a:r>
            <a:r>
              <a:rPr lang="ru-RU" b="1" dirty="0" err="1"/>
              <a:t>RandomResizedCrop</a:t>
            </a:r>
            <a:endParaRPr lang="ru-RU" dirty="0"/>
          </a:p>
          <a:p>
            <a:r>
              <a:rPr lang="ru-RU" dirty="0"/>
              <a:t>Вырезает случайный фрагмент изображения.</a:t>
            </a:r>
          </a:p>
          <a:p>
            <a:pPr lvl="0"/>
            <a:r>
              <a:rPr lang="ru-RU" dirty="0" err="1"/>
              <a:t>RandomCrop</a:t>
            </a:r>
            <a:r>
              <a:rPr lang="ru-RU" dirty="0"/>
              <a:t>(</a:t>
            </a:r>
            <a:r>
              <a:rPr lang="ru-RU" dirty="0" err="1"/>
              <a:t>size</a:t>
            </a:r>
            <a:r>
              <a:rPr lang="ru-RU" dirty="0"/>
              <a:t>, </a:t>
            </a:r>
            <a:r>
              <a:rPr lang="ru-RU" dirty="0" err="1"/>
              <a:t>padding</a:t>
            </a:r>
            <a:r>
              <a:rPr lang="ru-RU" dirty="0"/>
              <a:t>) — добавляет отступ, затем вырезает случайный фрагмент заданного размера.</a:t>
            </a:r>
          </a:p>
          <a:p>
            <a:pPr lvl="0"/>
            <a:r>
              <a:rPr lang="ru-RU" dirty="0" err="1"/>
              <a:t>RandomResizedCrop</a:t>
            </a:r>
            <a:r>
              <a:rPr lang="ru-RU" dirty="0"/>
              <a:t>(</a:t>
            </a:r>
            <a:r>
              <a:rPr lang="ru-RU" dirty="0" err="1"/>
              <a:t>size</a:t>
            </a:r>
            <a:r>
              <a:rPr lang="ru-RU" dirty="0"/>
              <a:t>, </a:t>
            </a:r>
            <a:r>
              <a:rPr lang="ru-RU" dirty="0" err="1"/>
              <a:t>scale</a:t>
            </a:r>
            <a:r>
              <a:rPr lang="ru-RU" dirty="0"/>
              <a:t>, </a:t>
            </a:r>
            <a:r>
              <a:rPr lang="ru-RU" dirty="0" err="1"/>
              <a:t>ratio</a:t>
            </a:r>
            <a:r>
              <a:rPr lang="ru-RU" dirty="0"/>
              <a:t>) — вырезает случайный фрагмент и масштабирует до </a:t>
            </a:r>
            <a:r>
              <a:rPr lang="ru-RU" dirty="0" err="1"/>
              <a:t>size</a:t>
            </a:r>
            <a:r>
              <a:rPr lang="ru-RU" dirty="0"/>
              <a:t>. Стандартная аугментация для </a:t>
            </a:r>
            <a:r>
              <a:rPr lang="ru-RU" dirty="0" err="1"/>
              <a:t>ImageNet</a:t>
            </a:r>
            <a:r>
              <a:rPr lang="ru-RU" dirty="0"/>
              <a:t>-обучения.</a:t>
            </a:r>
          </a:p>
          <a:p>
            <a:r>
              <a:rPr lang="ru-RU" b="1" dirty="0" err="1"/>
              <a:t>RandomAffine</a:t>
            </a:r>
            <a:endParaRPr lang="ru-RU" dirty="0"/>
          </a:p>
          <a:p>
            <a:r>
              <a:rPr lang="ru-RU" dirty="0"/>
              <a:t>Случайное аффинное преобразование: поворот, сдвиг, масштабирование, сдвиг по перспективе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585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4.3 Фотометрические аугментации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Изменяют цвет и яркость изображения, не изменяя его пространственную структуру.</a:t>
            </a:r>
          </a:p>
          <a:p>
            <a:r>
              <a:rPr lang="ru-RU" b="1" dirty="0" err="1"/>
              <a:t>ColorJitter</a:t>
            </a:r>
            <a:endParaRPr lang="ru-RU" dirty="0"/>
          </a:p>
          <a:p>
            <a:r>
              <a:rPr lang="ru-RU" dirty="0"/>
              <a:t>Случайное изменение яркости (</a:t>
            </a:r>
            <a:r>
              <a:rPr lang="ru-RU" dirty="0" err="1"/>
              <a:t>brightness</a:t>
            </a:r>
            <a:r>
              <a:rPr lang="ru-RU" dirty="0"/>
              <a:t>), контраста (</a:t>
            </a:r>
            <a:r>
              <a:rPr lang="ru-RU" dirty="0" err="1"/>
              <a:t>contrast</a:t>
            </a:r>
            <a:r>
              <a:rPr lang="ru-RU" dirty="0"/>
              <a:t>), насыщенности (</a:t>
            </a:r>
            <a:r>
              <a:rPr lang="ru-RU" dirty="0" err="1"/>
              <a:t>saturation</a:t>
            </a:r>
            <a:r>
              <a:rPr lang="ru-RU" dirty="0"/>
              <a:t>) и оттенка (</a:t>
            </a:r>
            <a:r>
              <a:rPr lang="ru-RU" dirty="0" err="1"/>
              <a:t>hue</a:t>
            </a:r>
            <a:r>
              <a:rPr lang="ru-RU" dirty="0"/>
              <a:t>).</a:t>
            </a:r>
          </a:p>
          <a:p>
            <a:r>
              <a:rPr lang="en-US" dirty="0" err="1"/>
              <a:t>transforms.ColorJitter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brightness=0.2,  # </a:t>
            </a:r>
            <a:r>
              <a:rPr lang="ru-RU" dirty="0"/>
              <a:t>в</a:t>
            </a:r>
            <a:r>
              <a:rPr lang="en-US" dirty="0"/>
              <a:t> [max(0, 1-0.2), 1+0.2] = [0.8, 1.2]</a:t>
            </a:r>
            <a:br>
              <a:rPr lang="en-US" dirty="0"/>
            </a:br>
            <a:r>
              <a:rPr lang="en-US" dirty="0"/>
              <a:t>    contrast=0.2,</a:t>
            </a:r>
            <a:br>
              <a:rPr lang="en-US" dirty="0"/>
            </a:br>
            <a:r>
              <a:rPr lang="en-US" dirty="0"/>
              <a:t>    saturation=0.2,</a:t>
            </a:r>
            <a:br>
              <a:rPr lang="en-US" dirty="0"/>
            </a:br>
            <a:r>
              <a:rPr lang="en-US" dirty="0"/>
              <a:t>    hue=0.1          # </a:t>
            </a:r>
            <a:r>
              <a:rPr lang="ru-RU" dirty="0"/>
              <a:t>в</a:t>
            </a:r>
            <a:r>
              <a:rPr lang="en-US" dirty="0"/>
              <a:t> [-0.1, 0.1] (hue </a:t>
            </a:r>
            <a:r>
              <a:rPr lang="ru-RU" dirty="0"/>
              <a:t>в диапазоне</a:t>
            </a:r>
            <a:r>
              <a:rPr lang="en-US" dirty="0"/>
              <a:t> [-0.5, 0.5])</a:t>
            </a:r>
            <a:br>
              <a:rPr lang="en-US" dirty="0"/>
            </a:br>
            <a:r>
              <a:rPr lang="en-US" dirty="0"/>
              <a:t>)</a:t>
            </a:r>
            <a:br>
              <a:rPr lang="en-US" dirty="0"/>
            </a:br>
            <a:r>
              <a:rPr lang="ru-RU" b="1" dirty="0" smtClean="0"/>
              <a:t>Когда </a:t>
            </a:r>
            <a:r>
              <a:rPr lang="ru-RU" b="1" dirty="0"/>
              <a:t>использовать</a:t>
            </a:r>
            <a:r>
              <a:rPr lang="ru-RU" dirty="0"/>
              <a:t>: почти всегда — имитирует разные условия освещения.</a:t>
            </a:r>
          </a:p>
          <a:p>
            <a:r>
              <a:rPr lang="ru-RU" b="1" dirty="0"/>
              <a:t>Когда осторожно</a:t>
            </a:r>
            <a:r>
              <a:rPr lang="ru-RU" dirty="0"/>
              <a:t>: медицинские снимки, где цвет несет </a:t>
            </a:r>
            <a:r>
              <a:rPr lang="ru-RU" dirty="0" err="1"/>
              <a:t>диагностически</a:t>
            </a:r>
            <a:r>
              <a:rPr lang="ru-RU" dirty="0"/>
              <a:t> важную информацию (гистология, дерматология).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36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4.3 Фотометрические аугментации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RandomGrayscale</a:t>
            </a:r>
            <a:endParaRPr lang="ru-RU" dirty="0"/>
          </a:p>
          <a:p>
            <a:r>
              <a:rPr lang="ru-RU" dirty="0"/>
              <a:t>Случайный перевод в оттенки серого с вероятностью p.</a:t>
            </a:r>
          </a:p>
          <a:p>
            <a:r>
              <a:rPr lang="ru-RU" b="1" dirty="0" err="1"/>
              <a:t>GaussianBlur</a:t>
            </a:r>
            <a:endParaRPr lang="ru-RU" dirty="0"/>
          </a:p>
          <a:p>
            <a:r>
              <a:rPr lang="ru-RU" dirty="0"/>
              <a:t>Случайное размытие по Гауссу.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283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4.4 Продвинутые методы аугментации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Cutout</a:t>
            </a:r>
            <a:r>
              <a:rPr lang="ru-RU" b="1" dirty="0"/>
              <a:t> / </a:t>
            </a:r>
            <a:r>
              <a:rPr lang="ru-RU" b="1" dirty="0" err="1"/>
              <a:t>RandomErasing</a:t>
            </a:r>
            <a:endParaRPr lang="ru-RU" dirty="0"/>
          </a:p>
          <a:p>
            <a:r>
              <a:rPr lang="ru-RU" dirty="0"/>
              <a:t>Случайное закрашивание (обнуление) прямоугольного фрагмента изображения. Заставляет модель не полагаться на одну наиболее различимую часть объекта.</a:t>
            </a:r>
          </a:p>
          <a:p>
            <a:r>
              <a:rPr lang="ru-RU" b="1" dirty="0" err="1"/>
              <a:t>Mixup</a:t>
            </a:r>
            <a:endParaRPr lang="ru-RU" dirty="0"/>
          </a:p>
          <a:p>
            <a:r>
              <a:rPr lang="ru-RU" dirty="0"/>
              <a:t>Линейная интерполяция двух изображений и их меток:</a:t>
            </a:r>
          </a:p>
          <a:p>
            <a:r>
              <a:rPr lang="en-US" dirty="0" err="1"/>
              <a:t>x_mix</a:t>
            </a:r>
            <a:r>
              <a:rPr lang="en-US" dirty="0"/>
              <a:t> = </a:t>
            </a:r>
            <a:r>
              <a:rPr lang="ru-RU" dirty="0"/>
              <a:t>λ</a:t>
            </a:r>
            <a:r>
              <a:rPr lang="en-US" dirty="0"/>
              <a:t>·</a:t>
            </a:r>
            <a:r>
              <a:rPr lang="en-US" dirty="0" err="1"/>
              <a:t>x_i</a:t>
            </a:r>
            <a:r>
              <a:rPr lang="en-US" dirty="0"/>
              <a:t> + (1-</a:t>
            </a:r>
            <a:r>
              <a:rPr lang="ru-RU" dirty="0"/>
              <a:t>λ</a:t>
            </a:r>
            <a:r>
              <a:rPr lang="en-US" dirty="0"/>
              <a:t>)·</a:t>
            </a:r>
            <a:r>
              <a:rPr lang="en-US" dirty="0" err="1"/>
              <a:t>x_j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y_mix</a:t>
            </a:r>
            <a:r>
              <a:rPr lang="en-US" dirty="0"/>
              <a:t> = </a:t>
            </a:r>
            <a:r>
              <a:rPr lang="ru-RU" dirty="0"/>
              <a:t>λ</a:t>
            </a:r>
            <a:r>
              <a:rPr lang="en-US" dirty="0"/>
              <a:t>·</a:t>
            </a:r>
            <a:r>
              <a:rPr lang="en-US" dirty="0" err="1"/>
              <a:t>y_i</a:t>
            </a:r>
            <a:r>
              <a:rPr lang="en-US" dirty="0"/>
              <a:t> + (1-</a:t>
            </a:r>
            <a:r>
              <a:rPr lang="ru-RU" dirty="0"/>
              <a:t>λ</a:t>
            </a:r>
            <a:r>
              <a:rPr lang="en-US" dirty="0"/>
              <a:t>)·</a:t>
            </a:r>
            <a:r>
              <a:rPr lang="en-US" dirty="0" err="1"/>
              <a:t>y_j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  <a:p>
            <a:r>
              <a:rPr lang="ru-RU" dirty="0"/>
              <a:t>Улучшает обобщение, особенно на задачах классификации.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49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4.4 Продвинутые методы аугментации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CutMix</a:t>
            </a:r>
            <a:endParaRPr lang="ru-RU" dirty="0"/>
          </a:p>
          <a:p>
            <a:r>
              <a:rPr lang="ru-RU" dirty="0"/>
              <a:t>Комбинация </a:t>
            </a:r>
            <a:r>
              <a:rPr lang="ru-RU" dirty="0" err="1"/>
              <a:t>Cutout</a:t>
            </a:r>
            <a:r>
              <a:rPr lang="ru-RU" dirty="0"/>
              <a:t> и </a:t>
            </a:r>
            <a:r>
              <a:rPr lang="ru-RU" dirty="0" err="1"/>
              <a:t>Mixup</a:t>
            </a:r>
            <a:r>
              <a:rPr lang="ru-RU" dirty="0"/>
              <a:t>: фрагмент одного изображения вставляется в другое, метки взвешиваются пропорционально площадям.</a:t>
            </a:r>
          </a:p>
          <a:p>
            <a:r>
              <a:rPr lang="ru-RU" b="1" dirty="0" err="1"/>
              <a:t>AutoAugment</a:t>
            </a:r>
            <a:r>
              <a:rPr lang="ru-RU" b="1" dirty="0"/>
              <a:t> / </a:t>
            </a:r>
            <a:r>
              <a:rPr lang="ru-RU" b="1" dirty="0" err="1"/>
              <a:t>RandAugment</a:t>
            </a:r>
            <a:endParaRPr lang="ru-RU" dirty="0"/>
          </a:p>
          <a:p>
            <a:r>
              <a:rPr lang="ru-RU" dirty="0"/>
              <a:t>Автоматический подбор политики аугментаций с помощью обучения с подкреплением (</a:t>
            </a:r>
            <a:r>
              <a:rPr lang="ru-RU" dirty="0" err="1"/>
              <a:t>AutoAugment</a:t>
            </a:r>
            <a:r>
              <a:rPr lang="ru-RU" dirty="0"/>
              <a:t>) или случайного </a:t>
            </a:r>
            <a:r>
              <a:rPr lang="ru-RU" dirty="0" err="1"/>
              <a:t>сэмплирования</a:t>
            </a:r>
            <a:r>
              <a:rPr lang="ru-RU" dirty="0"/>
              <a:t> (</a:t>
            </a:r>
            <a:r>
              <a:rPr lang="ru-RU" dirty="0" err="1"/>
              <a:t>RandAugment</a:t>
            </a:r>
            <a:r>
              <a:rPr lang="ru-RU" dirty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49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5</a:t>
            </a:r>
            <a:r>
              <a:rPr lang="ru-RU" b="1" dirty="0"/>
              <a:t>. Разница между аугментациями для классификации и сегментации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89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5.1 Классификация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Метка </a:t>
            </a:r>
            <a:r>
              <a:rPr lang="ru-RU" dirty="0"/>
              <a:t>— это число (индекс класса) для всего изображения. Геометрические трансформации меняют изображение, но метка остается прежней.</a:t>
            </a:r>
          </a:p>
          <a:p>
            <a:r>
              <a:rPr lang="ru-RU" dirty="0"/>
              <a:t>Можно свободно применять все аугментации, не беспокоясь о синхронизации.</a:t>
            </a:r>
          </a:p>
          <a:p>
            <a:r>
              <a:rPr lang="ru-RU" dirty="0"/>
              <a:t>Изображение → </a:t>
            </a:r>
            <a:r>
              <a:rPr lang="ru-RU" dirty="0" err="1"/>
              <a:t>RandomFlip</a:t>
            </a:r>
            <a:r>
              <a:rPr lang="ru-RU" dirty="0"/>
              <a:t> → </a:t>
            </a:r>
            <a:r>
              <a:rPr lang="ru-RU" dirty="0" err="1"/>
              <a:t>RandomRotation</a:t>
            </a:r>
            <a:r>
              <a:rPr lang="ru-RU" dirty="0"/>
              <a:t> → </a:t>
            </a:r>
            <a:r>
              <a:rPr lang="ru-RU" dirty="0" err="1"/>
              <a:t>ColorJitter</a:t>
            </a:r>
            <a:r>
              <a:rPr lang="ru-RU" dirty="0"/>
              <a:t> → </a:t>
            </a:r>
            <a:r>
              <a:rPr lang="ru-RU" dirty="0" err="1"/>
              <a:t>ToTensor</a:t>
            </a:r>
            <a:r>
              <a:rPr lang="ru-RU" dirty="0"/>
              <a:t> → </a:t>
            </a:r>
            <a:r>
              <a:rPr lang="ru-RU" dirty="0" err="1"/>
              <a:t>Normalize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Метка (число) → без изменений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70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5.2 </a:t>
            </a:r>
            <a:r>
              <a:rPr lang="ru-RU" b="1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Метка </a:t>
            </a:r>
            <a:r>
              <a:rPr lang="ru-RU" dirty="0"/>
              <a:t>— это </a:t>
            </a:r>
            <a:r>
              <a:rPr lang="ru-RU" b="1" dirty="0"/>
              <a:t>маска</a:t>
            </a:r>
            <a:r>
              <a:rPr lang="ru-RU" dirty="0"/>
              <a:t>: массив той же пространственной размерности, что и изображение. Каждый пиксель маски кодирует класс соответствующего пикселя.</a:t>
            </a:r>
          </a:p>
          <a:p>
            <a:r>
              <a:rPr lang="ru-RU" b="1" dirty="0"/>
              <a:t>Проблема</a:t>
            </a:r>
            <a:r>
              <a:rPr lang="ru-RU" dirty="0"/>
              <a:t>: если к изображению применяется геометрическая трансформация (поворот, обрезка, отражение), к маске нужно применить точно такую же трансформацию с теми же параметрами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39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5.2 </a:t>
            </a:r>
            <a:r>
              <a:rPr lang="ru-RU" b="1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Решения:</a:t>
            </a:r>
            <a:endParaRPr lang="ru-RU" dirty="0"/>
          </a:p>
          <a:p>
            <a:pPr lvl="0"/>
            <a:r>
              <a:rPr lang="ru-RU" dirty="0"/>
              <a:t>torchvision.transforms.v2 — новый API (с PyTorch 0.15+), поддерживающий одновременное преобразование изображения и маски.</a:t>
            </a:r>
          </a:p>
          <a:p>
            <a:pPr lvl="0"/>
            <a:r>
              <a:rPr lang="ru-RU" dirty="0" err="1"/>
              <a:t>torchvision.transforms.functional</a:t>
            </a:r>
            <a:r>
              <a:rPr lang="ru-RU" dirty="0"/>
              <a:t> — вызов функций с явно заданными параметрами (фиксированный угол поворота и т.п.).</a:t>
            </a:r>
          </a:p>
          <a:p>
            <a:pPr lvl="0"/>
            <a:r>
              <a:rPr lang="ru-RU" dirty="0" err="1"/>
              <a:t>albumentations</a:t>
            </a:r>
            <a:r>
              <a:rPr lang="ru-RU" dirty="0"/>
              <a:t> — специализированная библиотека с удобным API для пар (изображение, маска).</a:t>
            </a:r>
          </a:p>
          <a:p>
            <a:pPr lvl="0"/>
            <a:r>
              <a:rPr lang="ru-RU" dirty="0"/>
              <a:t>Конкатенация по каналам: объединить изображение и маску по оси каналов, применить трансформацию, затем разделить обратно.</a:t>
            </a:r>
          </a:p>
          <a:p>
            <a:r>
              <a:rPr lang="ru-RU" b="1" dirty="0"/>
              <a:t>Важно для фотометрических аугментаций</a:t>
            </a:r>
            <a:r>
              <a:rPr lang="ru-RU" dirty="0"/>
              <a:t>: </a:t>
            </a:r>
            <a:r>
              <a:rPr lang="ru-RU" dirty="0" err="1"/>
              <a:t>ColorJitter</a:t>
            </a:r>
            <a:r>
              <a:rPr lang="ru-RU" dirty="0"/>
              <a:t>, нормализация и другие пиксельные трансформации применяются </a:t>
            </a:r>
            <a:r>
              <a:rPr lang="ru-RU" b="1" dirty="0"/>
              <a:t>только к изображению</a:t>
            </a:r>
            <a:r>
              <a:rPr lang="ru-RU" dirty="0"/>
              <a:t>, но не к маске — маска содержит целочисленные метки классов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671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6. </a:t>
            </a:r>
            <a:r>
              <a:rPr lang="ru-RU" b="1" dirty="0" err="1"/>
              <a:t>Albumentations</a:t>
            </a:r>
            <a:r>
              <a:rPr lang="ru-RU" b="1" dirty="0"/>
              <a:t>: альтернатива </a:t>
            </a:r>
            <a:r>
              <a:rPr lang="ru-RU" b="1" dirty="0" err="1"/>
              <a:t>torchvision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50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albumentations</a:t>
            </a:r>
            <a:r>
              <a:rPr lang="ru-RU" dirty="0"/>
              <a:t> — отдельная библиотека для аугментаций, изначально спроектированная с поддержкой масок, </a:t>
            </a:r>
            <a:r>
              <a:rPr lang="ru-RU" dirty="0" err="1"/>
              <a:t>bounding</a:t>
            </a:r>
            <a:r>
              <a:rPr lang="ru-RU" dirty="0"/>
              <a:t> </a:t>
            </a:r>
            <a:r>
              <a:rPr lang="ru-RU" dirty="0" err="1"/>
              <a:t>boxes</a:t>
            </a:r>
            <a:r>
              <a:rPr lang="ru-RU" dirty="0"/>
              <a:t> и </a:t>
            </a:r>
            <a:r>
              <a:rPr lang="ru-RU" dirty="0" err="1"/>
              <a:t>keypoints</a:t>
            </a:r>
            <a:r>
              <a:rPr lang="ru-RU" dirty="0"/>
              <a:t>.</a:t>
            </a:r>
          </a:p>
          <a:p>
            <a:r>
              <a:rPr lang="ru-RU" b="1" dirty="0"/>
              <a:t>Преимущества </a:t>
            </a:r>
            <a:r>
              <a:rPr lang="ru-RU" b="1" dirty="0" err="1"/>
              <a:t>Albumentations</a:t>
            </a:r>
            <a:r>
              <a:rPr lang="ru-RU" b="1" dirty="0"/>
              <a:t>:</a:t>
            </a:r>
            <a:endParaRPr lang="ru-RU" dirty="0"/>
          </a:p>
          <a:p>
            <a:pPr lvl="0"/>
            <a:r>
              <a:rPr lang="ru-RU" dirty="0"/>
              <a:t>Единый </a:t>
            </a:r>
            <a:r>
              <a:rPr lang="ru-RU" dirty="0" err="1"/>
              <a:t>пайплайн</a:t>
            </a:r>
            <a:r>
              <a:rPr lang="ru-RU" dirty="0"/>
              <a:t> для изображения, маски, боксов, ключевых точек.</a:t>
            </a:r>
          </a:p>
          <a:p>
            <a:pPr lvl="0"/>
            <a:r>
              <a:rPr lang="ru-RU" dirty="0"/>
              <a:t>Богатый набор специализированных трансформаций (CLAHE, </a:t>
            </a:r>
            <a:r>
              <a:rPr lang="ru-RU" dirty="0" err="1"/>
              <a:t>ElasticTransform</a:t>
            </a:r>
            <a:r>
              <a:rPr lang="ru-RU" dirty="0"/>
              <a:t>, </a:t>
            </a:r>
            <a:r>
              <a:rPr lang="ru-RU" dirty="0" err="1"/>
              <a:t>GridDistortion</a:t>
            </a:r>
            <a:r>
              <a:rPr lang="ru-RU" dirty="0"/>
              <a:t>, </a:t>
            </a:r>
            <a:r>
              <a:rPr lang="ru-RU" dirty="0" err="1"/>
              <a:t>OpticalDistortion</a:t>
            </a:r>
            <a:r>
              <a:rPr lang="ru-RU" dirty="0"/>
              <a:t> и т.д.).</a:t>
            </a:r>
          </a:p>
          <a:p>
            <a:pPr lvl="0"/>
            <a:r>
              <a:rPr lang="ru-RU" dirty="0"/>
              <a:t>Высокая скорость за счет </a:t>
            </a:r>
            <a:r>
              <a:rPr lang="ru-RU" dirty="0" err="1"/>
              <a:t>OpenCV</a:t>
            </a:r>
            <a:r>
              <a:rPr lang="ru-RU" dirty="0"/>
              <a:t>.</a:t>
            </a:r>
          </a:p>
          <a:p>
            <a:pPr lvl="0"/>
            <a:r>
              <a:rPr lang="ru-RU" dirty="0" err="1"/>
              <a:t>Воспроизводимость</a:t>
            </a:r>
            <a:r>
              <a:rPr lang="ru-RU" dirty="0"/>
              <a:t> через </a:t>
            </a:r>
            <a:r>
              <a:rPr lang="ru-RU" dirty="0" err="1"/>
              <a:t>seed</a:t>
            </a:r>
            <a:r>
              <a:rPr lang="ru-RU" dirty="0"/>
              <a:t>.</a:t>
            </a:r>
          </a:p>
          <a:p>
            <a:r>
              <a:rPr lang="ru-RU" b="1" dirty="0"/>
              <a:t>Установка:</a:t>
            </a:r>
            <a:endParaRPr lang="ru-RU" dirty="0"/>
          </a:p>
          <a:p>
            <a:r>
              <a:rPr lang="ru-RU" dirty="0" err="1"/>
              <a:t>pip</a:t>
            </a:r>
            <a:r>
              <a:rPr lang="ru-RU" dirty="0"/>
              <a:t> </a:t>
            </a:r>
            <a:r>
              <a:rPr lang="ru-RU" dirty="0" err="1"/>
              <a:t>install</a:t>
            </a:r>
            <a:r>
              <a:rPr lang="ru-RU" dirty="0"/>
              <a:t> </a:t>
            </a:r>
            <a:r>
              <a:rPr lang="ru-RU" dirty="0" err="1"/>
              <a:t>albumentations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100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Пример </a:t>
            </a:r>
            <a:r>
              <a:rPr lang="ru-RU" b="1" dirty="0" err="1"/>
              <a:t>пайплайна</a:t>
            </a:r>
            <a:r>
              <a:rPr lang="ru-RU" b="1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import </a:t>
            </a:r>
            <a:r>
              <a:rPr lang="en-US" dirty="0" err="1"/>
              <a:t>albumentations</a:t>
            </a:r>
            <a:r>
              <a:rPr lang="en-US" dirty="0"/>
              <a:t> as A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albumentations.pytorch</a:t>
            </a:r>
            <a:r>
              <a:rPr lang="en-US" dirty="0"/>
              <a:t> import ToTensorV2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train_transform</a:t>
            </a:r>
            <a:r>
              <a:rPr lang="en-US" dirty="0"/>
              <a:t> = </a:t>
            </a:r>
            <a:r>
              <a:rPr lang="en-US" dirty="0" err="1"/>
              <a:t>A.Compose</a:t>
            </a:r>
            <a:r>
              <a:rPr lang="en-US" dirty="0"/>
              <a:t>([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A.HorizontalFlip</a:t>
            </a:r>
            <a:r>
              <a:rPr lang="en-US" dirty="0"/>
              <a:t>(p=0.5),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A.Rotate</a:t>
            </a:r>
            <a:r>
              <a:rPr lang="en-US" dirty="0"/>
              <a:t>(limit=15, p=0.5),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A.ColorJitter</a:t>
            </a:r>
            <a:r>
              <a:rPr lang="en-US" dirty="0"/>
              <a:t>(brightness=0.2, contrast=0.2, p=0.5),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A.Normalize</a:t>
            </a:r>
            <a:r>
              <a:rPr lang="en-US" dirty="0"/>
              <a:t>(mean=(0.485, 0.456, 0.406), </a:t>
            </a:r>
            <a:r>
              <a:rPr lang="en-US" dirty="0" err="1"/>
              <a:t>std</a:t>
            </a:r>
            <a:r>
              <a:rPr lang="en-US" dirty="0"/>
              <a:t>=(0.229, 0.224, 0.225)),</a:t>
            </a:r>
            <a:br>
              <a:rPr lang="en-US" dirty="0"/>
            </a:br>
            <a:r>
              <a:rPr lang="en-US" dirty="0"/>
              <a:t>    ToTensorV2(),</a:t>
            </a:r>
            <a:br>
              <a:rPr lang="en-US" dirty="0"/>
            </a:br>
            <a:r>
              <a:rPr lang="en-US" dirty="0"/>
              <a:t>], </a:t>
            </a:r>
            <a:r>
              <a:rPr lang="en-US" dirty="0" err="1"/>
              <a:t>additional_targets</a:t>
            </a:r>
            <a:r>
              <a:rPr lang="en-US" dirty="0"/>
              <a:t>={'mask': 'mask'})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</a:t>
            </a:r>
            <a:r>
              <a:rPr lang="ru-RU" dirty="0"/>
              <a:t>Применение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result = </a:t>
            </a:r>
            <a:r>
              <a:rPr lang="en-US" dirty="0" err="1"/>
              <a:t>train_transform</a:t>
            </a:r>
            <a:r>
              <a:rPr lang="en-US" dirty="0"/>
              <a:t>(image=</a:t>
            </a:r>
            <a:r>
              <a:rPr lang="en-US" dirty="0" err="1"/>
              <a:t>img_np</a:t>
            </a:r>
            <a:r>
              <a:rPr lang="en-US" dirty="0"/>
              <a:t>, mask=</a:t>
            </a:r>
            <a:r>
              <a:rPr lang="en-US" dirty="0" err="1"/>
              <a:t>mask_np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image_t</a:t>
            </a:r>
            <a:r>
              <a:rPr lang="en-US" dirty="0"/>
              <a:t> = result['image']</a:t>
            </a:r>
            <a:br>
              <a:rPr lang="en-US" dirty="0"/>
            </a:br>
            <a:r>
              <a:rPr lang="en-US" dirty="0" err="1"/>
              <a:t>mask_t</a:t>
            </a:r>
            <a:r>
              <a:rPr lang="en-US" dirty="0"/>
              <a:t>  = result['mask']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359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7. </a:t>
            </a:r>
            <a:r>
              <a:rPr lang="ru-RU" b="1" dirty="0" err="1"/>
              <a:t>Custom</a:t>
            </a:r>
            <a:r>
              <a:rPr lang="ru-RU" b="1" dirty="0"/>
              <a:t> </a:t>
            </a:r>
            <a:r>
              <a:rPr lang="ru-RU" b="1" dirty="0" err="1"/>
              <a:t>Dataset</a:t>
            </a:r>
            <a:r>
              <a:rPr lang="ru-RU" b="1" dirty="0"/>
              <a:t> в PyTorch: архитектура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70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Класс </a:t>
            </a:r>
            <a:r>
              <a:rPr lang="ru-RU" dirty="0" err="1"/>
              <a:t>torch.utils.data.Dataset</a:t>
            </a:r>
            <a:r>
              <a:rPr lang="ru-RU" dirty="0"/>
              <a:t> — базовый интерфейс для любого датасета в PyTorch. Необходимо реализовать три метода:</a:t>
            </a:r>
          </a:p>
          <a:p>
            <a:r>
              <a:rPr lang="ru-RU" b="1" dirty="0"/>
              <a:t>__</a:t>
            </a:r>
            <a:r>
              <a:rPr lang="ru-RU" b="1" dirty="0" err="1"/>
              <a:t>init</a:t>
            </a:r>
            <a:r>
              <a:rPr lang="ru-RU" b="1" dirty="0"/>
              <a:t>__</a:t>
            </a:r>
            <a:endParaRPr lang="ru-RU" dirty="0"/>
          </a:p>
          <a:p>
            <a:r>
              <a:rPr lang="ru-RU" dirty="0"/>
              <a:t>Инициализация: сохранение путей к файлам, списков меток, трансформаций.</a:t>
            </a:r>
          </a:p>
          <a:p>
            <a:r>
              <a:rPr lang="ru-RU" b="1" dirty="0"/>
              <a:t>__</a:t>
            </a:r>
            <a:r>
              <a:rPr lang="ru-RU" b="1" dirty="0" err="1"/>
              <a:t>len</a:t>
            </a:r>
            <a:r>
              <a:rPr lang="ru-RU" b="1" dirty="0"/>
              <a:t>__</a:t>
            </a:r>
            <a:endParaRPr lang="ru-RU" dirty="0"/>
          </a:p>
          <a:p>
            <a:r>
              <a:rPr lang="ru-RU" dirty="0"/>
              <a:t>Возвращает общее количество элементов в датасете. Используется </a:t>
            </a:r>
            <a:r>
              <a:rPr lang="ru-RU" dirty="0" err="1"/>
              <a:t>DataLoader</a:t>
            </a:r>
            <a:r>
              <a:rPr lang="ru-RU" dirty="0"/>
              <a:t> для определения количества батчей.</a:t>
            </a:r>
          </a:p>
          <a:p>
            <a:r>
              <a:rPr lang="ru-RU" b="1" dirty="0"/>
              <a:t>__</a:t>
            </a:r>
            <a:r>
              <a:rPr lang="ru-RU" b="1" dirty="0" err="1"/>
              <a:t>getitem</a:t>
            </a:r>
            <a:r>
              <a:rPr lang="ru-RU" b="1" dirty="0"/>
              <a:t>__</a:t>
            </a:r>
            <a:endParaRPr lang="ru-RU" dirty="0"/>
          </a:p>
          <a:p>
            <a:r>
              <a:rPr lang="ru-RU" dirty="0"/>
              <a:t>Загружает и возвращает один элемент по индексу. Здесь происходят:</a:t>
            </a:r>
          </a:p>
          <a:p>
            <a:pPr lvl="0"/>
            <a:r>
              <a:rPr lang="ru-RU" dirty="0"/>
              <a:t>чтение файла изображения с диска (PIL или </a:t>
            </a:r>
            <a:r>
              <a:rPr lang="ru-RU" dirty="0" err="1"/>
              <a:t>OpenCV</a:t>
            </a:r>
            <a:r>
              <a:rPr lang="ru-RU" dirty="0"/>
              <a:t>);</a:t>
            </a:r>
          </a:p>
          <a:p>
            <a:pPr lvl="0"/>
            <a:r>
              <a:rPr lang="ru-RU" dirty="0"/>
              <a:t>применение трансформаций;</a:t>
            </a:r>
          </a:p>
          <a:p>
            <a:r>
              <a:rPr lang="ru-RU" dirty="0"/>
              <a:t>возврат кортежа </a:t>
            </a:r>
            <a:r>
              <a:rPr lang="en-US" dirty="0"/>
              <a:t>(</a:t>
            </a:r>
            <a:r>
              <a:rPr lang="en-US" dirty="0" err="1"/>
              <a:t>image_tensor</a:t>
            </a:r>
            <a:r>
              <a:rPr lang="en-US" dirty="0"/>
              <a:t>, label).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123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Скелет</a:t>
            </a:r>
            <a:r>
              <a:rPr lang="en-US" b="1" dirty="0"/>
              <a:t> Custom Dataset</a:t>
            </a:r>
            <a:r>
              <a:rPr lang="en-US" b="1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from </a:t>
            </a:r>
            <a:r>
              <a:rPr lang="en-US" dirty="0" err="1"/>
              <a:t>torch.utils.data</a:t>
            </a:r>
            <a:r>
              <a:rPr lang="en-US" dirty="0"/>
              <a:t> import Dataset</a:t>
            </a:r>
            <a:br>
              <a:rPr lang="en-US" dirty="0"/>
            </a:br>
            <a:r>
              <a:rPr lang="en-US" dirty="0"/>
              <a:t>from PIL import Image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MyImageDataset</a:t>
            </a:r>
            <a:r>
              <a:rPr lang="en-US" dirty="0"/>
              <a:t>(Dataset):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image_paths</a:t>
            </a:r>
            <a:r>
              <a:rPr lang="en-US" dirty="0"/>
              <a:t>, labels, transform=None):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self.image_paths</a:t>
            </a:r>
            <a:r>
              <a:rPr lang="en-US" dirty="0"/>
              <a:t> = </a:t>
            </a:r>
            <a:r>
              <a:rPr lang="en-US" dirty="0" err="1"/>
              <a:t>image_paths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self.labels</a:t>
            </a:r>
            <a:r>
              <a:rPr lang="en-US" dirty="0"/>
              <a:t>      = labels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self.transform</a:t>
            </a:r>
            <a:r>
              <a:rPr lang="en-US" dirty="0"/>
              <a:t>   = transform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len</a:t>
            </a:r>
            <a:r>
              <a:rPr lang="en-US" dirty="0"/>
              <a:t>__(self):</a:t>
            </a:r>
            <a:br>
              <a:rPr lang="en-US" dirty="0"/>
            </a:br>
            <a:r>
              <a:rPr lang="en-US" dirty="0"/>
              <a:t>        return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self.image_paths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__</a:t>
            </a:r>
            <a:r>
              <a:rPr lang="en-US" dirty="0" err="1"/>
              <a:t>getitem</a:t>
            </a:r>
            <a:r>
              <a:rPr lang="en-US" dirty="0"/>
              <a:t>__(self, </a:t>
            </a:r>
            <a:r>
              <a:rPr lang="en-US" dirty="0" err="1"/>
              <a:t>idx</a:t>
            </a:r>
            <a:r>
              <a:rPr lang="en-US" dirty="0"/>
              <a:t>):</a:t>
            </a:r>
            <a:br>
              <a:rPr lang="en-US" dirty="0"/>
            </a:br>
            <a:r>
              <a:rPr lang="en-US" dirty="0"/>
              <a:t>        image = </a:t>
            </a:r>
            <a:r>
              <a:rPr lang="en-US" dirty="0" err="1"/>
              <a:t>Image.open</a:t>
            </a:r>
            <a:r>
              <a:rPr lang="en-US" dirty="0"/>
              <a:t>(</a:t>
            </a:r>
            <a:r>
              <a:rPr lang="en-US" dirty="0" err="1"/>
              <a:t>self.image_paths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]).convert('RGB')</a:t>
            </a:r>
            <a:br>
              <a:rPr lang="en-US" dirty="0"/>
            </a:br>
            <a:r>
              <a:rPr lang="en-US" dirty="0"/>
              <a:t>        label = </a:t>
            </a:r>
            <a:r>
              <a:rPr lang="en-US" dirty="0" err="1"/>
              <a:t>self.labels</a:t>
            </a:r>
            <a:r>
              <a:rPr lang="en-US" dirty="0"/>
              <a:t>[</a:t>
            </a:r>
            <a:r>
              <a:rPr lang="en-US" dirty="0" err="1"/>
              <a:t>idx</a:t>
            </a:r>
            <a:r>
              <a:rPr lang="en-US" dirty="0"/>
              <a:t>]</a:t>
            </a:r>
            <a:br>
              <a:rPr lang="en-US" dirty="0"/>
            </a:br>
            <a:r>
              <a:rPr lang="en-US" dirty="0"/>
              <a:t>        if </a:t>
            </a:r>
            <a:r>
              <a:rPr lang="en-US" dirty="0" err="1"/>
              <a:t>self.transform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     image = </a:t>
            </a:r>
            <a:r>
              <a:rPr lang="en-US" dirty="0" err="1"/>
              <a:t>self.transform</a:t>
            </a:r>
            <a:r>
              <a:rPr lang="en-US" dirty="0"/>
              <a:t>(image)</a:t>
            </a:r>
            <a:br>
              <a:rPr lang="en-US" dirty="0"/>
            </a:br>
            <a:r>
              <a:rPr lang="en-US" dirty="0"/>
              <a:t>        return image, label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902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8. Практические рекомендации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4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8.1 Общие </a:t>
            </a:r>
            <a:r>
              <a:rPr lang="ru-RU" b="1" dirty="0" smtClean="0"/>
              <a:t>правила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b="1" dirty="0" smtClean="0"/>
              <a:t>Аугментации </a:t>
            </a:r>
            <a:r>
              <a:rPr lang="ru-RU" b="1" dirty="0"/>
              <a:t>— только на </a:t>
            </a:r>
            <a:r>
              <a:rPr lang="ru-RU" b="1" dirty="0" err="1"/>
              <a:t>train</a:t>
            </a:r>
            <a:r>
              <a:rPr lang="ru-RU" dirty="0"/>
              <a:t>. Валидация и тест используют только предобработку (</a:t>
            </a:r>
            <a:r>
              <a:rPr lang="ru-RU" dirty="0" err="1"/>
              <a:t>Resize</a:t>
            </a:r>
            <a:r>
              <a:rPr lang="ru-RU" dirty="0"/>
              <a:t>, </a:t>
            </a:r>
            <a:r>
              <a:rPr lang="ru-RU" dirty="0" err="1"/>
              <a:t>CenterCrop</a:t>
            </a:r>
            <a:r>
              <a:rPr lang="ru-RU" dirty="0"/>
              <a:t>, </a:t>
            </a:r>
            <a:r>
              <a:rPr lang="ru-RU" dirty="0" err="1"/>
              <a:t>ToTensor</a:t>
            </a:r>
            <a:r>
              <a:rPr lang="ru-RU" dirty="0"/>
              <a:t>, </a:t>
            </a:r>
            <a:r>
              <a:rPr lang="ru-RU" dirty="0" err="1"/>
              <a:t>Normalize</a:t>
            </a:r>
            <a:r>
              <a:rPr lang="ru-RU" dirty="0"/>
              <a:t>).</a:t>
            </a:r>
          </a:p>
          <a:p>
            <a:pPr lvl="0"/>
            <a:r>
              <a:rPr lang="en-US" b="1" dirty="0"/>
              <a:t>On-the-fly vs offline</a:t>
            </a:r>
            <a:r>
              <a:rPr lang="en-US" dirty="0"/>
              <a:t>. </a:t>
            </a:r>
            <a:r>
              <a:rPr lang="ru-RU" dirty="0"/>
              <a:t>Генерировать </a:t>
            </a:r>
            <a:r>
              <a:rPr lang="ru-RU" dirty="0" err="1"/>
              <a:t>аугментированные</a:t>
            </a:r>
            <a:r>
              <a:rPr lang="ru-RU" dirty="0"/>
              <a:t> примеры случайно при каждой эпохе («</a:t>
            </a:r>
            <a:r>
              <a:rPr lang="ru-RU" dirty="0" err="1"/>
              <a:t>on-the-fly</a:t>
            </a:r>
            <a:r>
              <a:rPr lang="ru-RU" dirty="0"/>
              <a:t>») лучше, чем сохранять их на диск — модель видит бесконечно разные варианты.</a:t>
            </a:r>
          </a:p>
          <a:p>
            <a:pPr lvl="0"/>
            <a:r>
              <a:rPr lang="ru-RU" b="1" dirty="0"/>
              <a:t>Порядок трансформаций</a:t>
            </a:r>
            <a:r>
              <a:rPr lang="ru-RU" dirty="0"/>
              <a:t>: сначала геометрические → потом фотометрические → </a:t>
            </a:r>
            <a:r>
              <a:rPr lang="ru-RU" dirty="0" err="1"/>
              <a:t>ToTensor</a:t>
            </a:r>
            <a:r>
              <a:rPr lang="ru-RU" dirty="0"/>
              <a:t> → </a:t>
            </a:r>
            <a:r>
              <a:rPr lang="ru-RU" dirty="0" err="1"/>
              <a:t>Normalize</a:t>
            </a:r>
            <a:r>
              <a:rPr lang="ru-RU" dirty="0"/>
              <a:t>.</a:t>
            </a:r>
          </a:p>
          <a:p>
            <a:pPr lvl="0"/>
            <a:r>
              <a:rPr lang="ru-RU" b="1" dirty="0"/>
              <a:t>Сила аугментаций</a:t>
            </a:r>
            <a:r>
              <a:rPr lang="ru-RU" dirty="0"/>
              <a:t>: слишком сильные аугментации могут ухудшить качество. Начинайте с умеренных значений.</a:t>
            </a:r>
          </a:p>
          <a:p>
            <a:r>
              <a:rPr lang="ru-RU" b="1" dirty="0"/>
              <a:t>Для маленьких датасетов</a:t>
            </a:r>
            <a:r>
              <a:rPr lang="ru-RU" dirty="0"/>
              <a:t>: аугментации особенно важны — они могут дать прирост качества в несколько процентов.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252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8.2 </a:t>
            </a:r>
            <a:r>
              <a:rPr lang="ru-RU" b="1" dirty="0"/>
              <a:t>Типовой </a:t>
            </a:r>
            <a:r>
              <a:rPr lang="ru-RU" b="1" dirty="0" err="1"/>
              <a:t>пайплайн</a:t>
            </a:r>
            <a:r>
              <a:rPr lang="ru-RU" b="1" dirty="0"/>
              <a:t> для классификации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Train</a:t>
            </a:r>
            <a:r>
              <a:rPr lang="en-US" dirty="0"/>
              <a:t>:  Resize(256) → </a:t>
            </a:r>
            <a:r>
              <a:rPr lang="en-US" dirty="0" err="1"/>
              <a:t>RandomCrop</a:t>
            </a:r>
            <a:r>
              <a:rPr lang="en-US" dirty="0"/>
              <a:t>(224) → </a:t>
            </a:r>
            <a:r>
              <a:rPr lang="en-US" dirty="0" err="1"/>
              <a:t>RandomHorizontalFlip</a:t>
            </a:r>
            <a:r>
              <a:rPr lang="en-US" dirty="0"/>
              <a:t>(0.5)</a:t>
            </a:r>
            <a:br>
              <a:rPr lang="en-US" dirty="0"/>
            </a:br>
            <a:r>
              <a:rPr lang="en-US" dirty="0"/>
              <a:t>        → </a:t>
            </a:r>
            <a:r>
              <a:rPr lang="en-US" dirty="0" err="1"/>
              <a:t>ColorJitter</a:t>
            </a:r>
            <a:r>
              <a:rPr lang="en-US" dirty="0"/>
              <a:t>(0.2,0.2,0.2,0.1) → </a:t>
            </a:r>
            <a:r>
              <a:rPr lang="en-US" dirty="0" err="1"/>
              <a:t>ToTensor</a:t>
            </a:r>
            <a:r>
              <a:rPr lang="en-US" dirty="0"/>
              <a:t> → Normalize(ImageNet)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Test:   Resize(256) → </a:t>
            </a:r>
            <a:r>
              <a:rPr lang="en-US" dirty="0" err="1"/>
              <a:t>CenterCrop</a:t>
            </a:r>
            <a:r>
              <a:rPr lang="en-US" dirty="0"/>
              <a:t>(224) → </a:t>
            </a:r>
            <a:r>
              <a:rPr lang="en-US" dirty="0" err="1"/>
              <a:t>ToTensor</a:t>
            </a:r>
            <a:r>
              <a:rPr lang="en-US" dirty="0"/>
              <a:t> → Normalize(ImageNet)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196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8.3 Типовой </a:t>
            </a:r>
            <a:r>
              <a:rPr lang="ru-RU" b="1" dirty="0" err="1"/>
              <a:t>пайплайн</a:t>
            </a:r>
            <a:r>
              <a:rPr lang="ru-RU" b="1" dirty="0"/>
              <a:t> для сегментации (U-</a:t>
            </a:r>
            <a:r>
              <a:rPr lang="ru-RU" b="1" dirty="0" err="1"/>
              <a:t>Net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Train</a:t>
            </a:r>
            <a:r>
              <a:rPr lang="ru-RU" dirty="0" smtClean="0"/>
              <a:t> </a:t>
            </a:r>
            <a:r>
              <a:rPr lang="ru-RU" dirty="0"/>
              <a:t>(синхронно для </a:t>
            </a:r>
            <a:r>
              <a:rPr lang="ru-RU" dirty="0" err="1"/>
              <a:t>img</a:t>
            </a:r>
            <a:r>
              <a:rPr lang="ru-RU" dirty="0"/>
              <a:t> и </a:t>
            </a:r>
            <a:r>
              <a:rPr lang="ru-RU" dirty="0" err="1"/>
              <a:t>mask</a:t>
            </a:r>
            <a:r>
              <a:rPr lang="ru-RU" dirty="0"/>
              <a:t>):</a:t>
            </a:r>
            <a:br>
              <a:rPr lang="ru-RU" dirty="0"/>
            </a:br>
            <a:r>
              <a:rPr lang="ru-RU" dirty="0"/>
              <a:t>  </a:t>
            </a:r>
            <a:r>
              <a:rPr lang="ru-RU" dirty="0" err="1"/>
              <a:t>RandomHorizontalFlip</a:t>
            </a:r>
            <a:r>
              <a:rPr lang="ru-RU" dirty="0"/>
              <a:t>(0.5) → </a:t>
            </a:r>
            <a:r>
              <a:rPr lang="ru-RU" dirty="0" err="1"/>
              <a:t>RandomRotation</a:t>
            </a:r>
            <a:r>
              <a:rPr lang="ru-RU" dirty="0"/>
              <a:t>(10) → </a:t>
            </a:r>
            <a:r>
              <a:rPr lang="ru-RU" dirty="0" err="1"/>
              <a:t>RandomCrop</a:t>
            </a:r>
            <a:r>
              <a:rPr lang="ru-RU" dirty="0"/>
              <a:t>(512)</a:t>
            </a:r>
            <a:br>
              <a:rPr lang="ru-RU" dirty="0"/>
            </a:br>
            <a:r>
              <a:rPr lang="ru-RU" dirty="0"/>
              <a:t>  → </a:t>
            </a:r>
            <a:r>
              <a:rPr lang="ru-RU" dirty="0" err="1"/>
              <a:t>ToTensor</a:t>
            </a:r>
            <a:r>
              <a:rPr lang="ru-RU" dirty="0"/>
              <a:t> → </a:t>
            </a:r>
            <a:r>
              <a:rPr lang="ru-RU" dirty="0" err="1"/>
              <a:t>Normalize</a:t>
            </a:r>
            <a:r>
              <a:rPr lang="ru-RU" dirty="0"/>
              <a:t>(</a:t>
            </a:r>
            <a:r>
              <a:rPr lang="ru-RU" dirty="0" err="1"/>
              <a:t>mean</a:t>
            </a:r>
            <a:r>
              <a:rPr lang="ru-RU" dirty="0"/>
              <a:t>, </a:t>
            </a:r>
            <a:r>
              <a:rPr lang="ru-RU" dirty="0" err="1"/>
              <a:t>std</a:t>
            </a:r>
            <a:r>
              <a:rPr lang="ru-RU" dirty="0"/>
              <a:t>)  [только для </a:t>
            </a:r>
            <a:r>
              <a:rPr lang="ru-RU" dirty="0" err="1"/>
              <a:t>img</a:t>
            </a:r>
            <a:r>
              <a:rPr lang="ru-RU" dirty="0"/>
              <a:t>]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Test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  </a:t>
            </a:r>
            <a:r>
              <a:rPr lang="ru-RU" dirty="0" err="1"/>
              <a:t>Resize</a:t>
            </a:r>
            <a:r>
              <a:rPr lang="ru-RU" dirty="0"/>
              <a:t> → </a:t>
            </a:r>
            <a:r>
              <a:rPr lang="ru-RU" dirty="0" err="1"/>
              <a:t>ToTensor</a:t>
            </a:r>
            <a:r>
              <a:rPr lang="ru-RU" dirty="0"/>
              <a:t> → </a:t>
            </a:r>
            <a:r>
              <a:rPr lang="ru-RU" dirty="0" err="1"/>
              <a:t>Normalize</a:t>
            </a:r>
            <a:r>
              <a:rPr lang="ru-RU" dirty="0"/>
              <a:t>  [только для </a:t>
            </a:r>
            <a:r>
              <a:rPr lang="ru-RU" dirty="0" err="1"/>
              <a:t>img</a:t>
            </a:r>
            <a:r>
              <a:rPr lang="ru-RU" dirty="0"/>
              <a:t>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978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Шаблон в оформлении «Облачный шкипер»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3665955_TF03460508.potx" id="{5DFBD78C-123E-43C4-B1D8-C87BD0916EA4}" vid="{61EFFEBC-D632-4584-AAF5-CCDDDB225785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6253D857-4181-4777-8893-6E45A690F9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24FD56-CE1B-42FC-9E83-BFBF160724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DD01B8-816B-49B7-8C81-03AB51D87C5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Слайды в оформлении «Облачный шкипер»</Template>
  <TotalTime>41</TotalTime>
  <Words>1809</Words>
  <Application>Microsoft Office PowerPoint</Application>
  <PresentationFormat>Широкоэкранный</PresentationFormat>
  <Paragraphs>146</Paragraphs>
  <Slides>35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</vt:lpstr>
      <vt:lpstr>Шаблон в оформлении «Облачный шкипер»</vt:lpstr>
      <vt:lpstr>Предобработка и аугментации изображений</vt:lpstr>
      <vt:lpstr>Цели занятия</vt:lpstr>
      <vt:lpstr>1. Зачем нужна предобработка?</vt:lpstr>
      <vt:lpstr>2. Нормализация: теория и практика</vt:lpstr>
      <vt:lpstr>2.1 Зачем нормализовать?</vt:lpstr>
      <vt:lpstr>2.2 Формула нормализации</vt:lpstr>
      <vt:lpstr>2.3 Стандартные значения mean/std</vt:lpstr>
      <vt:lpstr>2.4 Ошибка: нормализация на валидации/тесте</vt:lpstr>
      <vt:lpstr>3. Стандартные операции предобработки</vt:lpstr>
      <vt:lpstr>3.1 Resize (изменение размера)</vt:lpstr>
      <vt:lpstr>3.2 CenterCrop / RandomCrop</vt:lpstr>
      <vt:lpstr>Презентация PowerPoint</vt:lpstr>
      <vt:lpstr>4. Аугментации: теори</vt:lpstr>
      <vt:lpstr>4.1 Что такое аугментация? </vt:lpstr>
      <vt:lpstr>4.2 Геометрические аугментации</vt:lpstr>
      <vt:lpstr>4.2 Геометрические аугментации</vt:lpstr>
      <vt:lpstr>4.2 Геометрические аугментации</vt:lpstr>
      <vt:lpstr>4.3 Фотометрические аугментации</vt:lpstr>
      <vt:lpstr>4.3 Фотометрические аугментации</vt:lpstr>
      <vt:lpstr>4.4 Продвинутые методы аугментации</vt:lpstr>
      <vt:lpstr>4.4 Продвинутые методы аугментации</vt:lpstr>
      <vt:lpstr>5. Разница между аугментациями для классификации и сегментации</vt:lpstr>
      <vt:lpstr>5.1 Классификация</vt:lpstr>
      <vt:lpstr>5.2 Сегментация</vt:lpstr>
      <vt:lpstr>5.2 Сегментация</vt:lpstr>
      <vt:lpstr>6. Albumentations: альтернатива torchvision</vt:lpstr>
      <vt:lpstr>Презентация PowerPoint</vt:lpstr>
      <vt:lpstr>Пример пайплайна:</vt:lpstr>
      <vt:lpstr>7. Custom Dataset в PyTorch: архитектура</vt:lpstr>
      <vt:lpstr>Презентация PowerPoint</vt:lpstr>
      <vt:lpstr>Скелет Custom Dataset:</vt:lpstr>
      <vt:lpstr>8. Практические рекомендации</vt:lpstr>
      <vt:lpstr>8.1 Общие правила</vt:lpstr>
      <vt:lpstr>8.2 Типовой пайплайн для классификации</vt:lpstr>
      <vt:lpstr>8.3 Типовой пайплайн для сегментации (U-Net)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Макет заголовка</dc:title>
  <dc:creator>Сергей Н. Ткаченко</dc:creator>
  <cp:lastModifiedBy>Сергей Н. Ткаченко</cp:lastModifiedBy>
  <cp:revision>25</cp:revision>
  <dcterms:created xsi:type="dcterms:W3CDTF">2026-08-24T09:09:28Z</dcterms:created>
  <dcterms:modified xsi:type="dcterms:W3CDTF">2026-09-11T10:14:33Z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