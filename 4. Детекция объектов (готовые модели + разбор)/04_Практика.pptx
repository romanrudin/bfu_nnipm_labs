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6"/>
  </p:notesMasterIdLst>
  <p:handoutMasterIdLst>
    <p:handoutMasterId r:id="rId27"/>
  </p:handoutMasterIdLst>
  <p:sldIdLst>
    <p:sldId id="265" r:id="rId5"/>
    <p:sldId id="271" r:id="rId6"/>
    <p:sldId id="318" r:id="rId7"/>
    <p:sldId id="319" r:id="rId8"/>
    <p:sldId id="274" r:id="rId9"/>
    <p:sldId id="273" r:id="rId10"/>
    <p:sldId id="320" r:id="rId11"/>
    <p:sldId id="321" r:id="rId12"/>
    <p:sldId id="277" r:id="rId13"/>
    <p:sldId id="322" r:id="rId14"/>
    <p:sldId id="323" r:id="rId15"/>
    <p:sldId id="324" r:id="rId16"/>
    <p:sldId id="281" r:id="rId17"/>
    <p:sldId id="280" r:id="rId18"/>
    <p:sldId id="294" r:id="rId19"/>
    <p:sldId id="293" r:id="rId20"/>
    <p:sldId id="295" r:id="rId21"/>
    <p:sldId id="296" r:id="rId22"/>
    <p:sldId id="306" r:id="rId23"/>
    <p:sldId id="291" r:id="rId24"/>
    <p:sldId id="298" r:id="rId2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843" autoAdjust="0"/>
  </p:normalViewPr>
  <p:slideViewPr>
    <p:cSldViewPr snapToGrid="0" showGuides="1">
      <p:cViewPr varScale="1">
        <p:scale>
          <a:sx n="111" d="100"/>
          <a:sy n="111" d="100"/>
        </p:scale>
        <p:origin x="4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0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DDCB7EC-CEDA-42D5-8A0A-747B258F7B12}" type="datetime1">
              <a:rPr lang="ru-RU" smtClean="0"/>
              <a:t>21.09.2026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78FE58C-C1A6-4C4C-90C2-B7F5B0504B2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7BBAA-8962-46BE-8131-E6CE08071E10}" type="datetime1">
              <a:rPr lang="ru-RU" smtClean="0"/>
              <a:pPr/>
              <a:t>21.09.2026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10E1E9A-E921-4174-A0FC-51868D7AC568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10E1E9A-E921-4174-A0FC-51868D7AC568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9188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2AAF71-7088-4082-A4B5-5D2286FF71AE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467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566367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62100" y="1145136"/>
            <a:ext cx="9791700" cy="5031827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50B887-75E0-4C5B-AF37-E33049182621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87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1658" y="1709738"/>
            <a:ext cx="10105791" cy="2862262"/>
          </a:xfrm>
        </p:spPr>
        <p:txBody>
          <a:bodyPr rtlCol="0" anchor="b">
            <a:normAutofit/>
          </a:bodyPr>
          <a:lstStyle>
            <a:lvl1pPr>
              <a:defRPr sz="5400"/>
            </a:lvl1pPr>
          </a:lstStyle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41658" y="4589463"/>
            <a:ext cx="10105791" cy="1500187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ru-RU" noProof="0" dirty="0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3379668-2161-488D-96B8-6A859D0F15B4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676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569700" y="1825625"/>
            <a:ext cx="475488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605325" y="1825625"/>
            <a:ext cx="475488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939C50-7762-4792-95E1-E7874CF6E4AE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0" y="274638"/>
            <a:ext cx="9023350" cy="1143000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62100" y="1489075"/>
            <a:ext cx="4754880" cy="641350"/>
          </a:xfrm>
          <a:noFill/>
          <a:ln>
            <a:noFill/>
          </a:ln>
        </p:spPr>
        <p:txBody>
          <a:bodyPr rtlCol="0"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562100" y="2193925"/>
            <a:ext cx="4754880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98920" y="1489075"/>
            <a:ext cx="4754880" cy="641350"/>
          </a:xfrm>
          <a:noFill/>
          <a:ln>
            <a:noFill/>
          </a:ln>
        </p:spPr>
        <p:txBody>
          <a:bodyPr rtlCol="0"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98920" y="2193925"/>
            <a:ext cx="4754880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901220-6B3C-4719-8281-16AA8BA3EF64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31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D7245F-B3C7-4358-926A-1EE496656B67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1058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D0A9D0-FD05-4374-8990-9A13D81CB546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78905" y="987425"/>
            <a:ext cx="5676483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970C57-C6EC-43E3-AE3A-40D83CDB2BD6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8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 dirty="0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724B01-8CDF-43F1-A896-03E2F79CCBAE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193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562100" y="1825625"/>
            <a:ext cx="9791700" cy="4351338"/>
          </a:xfrm>
        </p:spPr>
        <p:txBody>
          <a:bodyPr vert="eaVert"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05DDED-C00D-420D-BCCC-88709E63D747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21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562100" y="365125"/>
            <a:ext cx="7010400" cy="5811838"/>
          </a:xfrm>
        </p:spPr>
        <p:txBody>
          <a:bodyPr vert="eaVert"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DCCF59-F12C-4B22-A0B5-0569E7EBF814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888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 dirty="0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30E92-8550-4A93-A5ED-7A5CF78928CB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138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62100" y="1179320"/>
            <a:ext cx="9791700" cy="4997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562100" y="6356350"/>
            <a:ext cx="255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C3194B10-7A25-4893-8C5C-B707DE59842E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71B7BAC7-FE87-40F6-AA24-4F4685D1B022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193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1464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984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r>
              <a:rPr lang="ru-RU" b="1" dirty="0"/>
              <a:t>Детекция объектов (готовые модели + разбор)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u-RU" dirty="0" smtClean="0"/>
              <a:t>Занятие </a:t>
            </a:r>
            <a:r>
              <a:rPr lang="ru-RU" dirty="0" smtClean="0"/>
              <a:t>0</a:t>
            </a:r>
            <a:r>
              <a:rPr lang="ru-RU" dirty="0"/>
              <a:t>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307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1. </a:t>
            </a:r>
            <a:r>
              <a:rPr lang="ru-RU" b="1" dirty="0"/>
              <a:t>Постановка задачи детекции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err="1"/>
              <a:t>Object</a:t>
            </a:r>
            <a:r>
              <a:rPr lang="ru-RU" b="1" dirty="0"/>
              <a:t> </a:t>
            </a:r>
            <a:r>
              <a:rPr lang="ru-RU" b="1" dirty="0" err="1"/>
              <a:t>Detection</a:t>
            </a:r>
            <a:r>
              <a:rPr lang="ru-RU" dirty="0"/>
              <a:t> (детекция объектов) — задача, объединяющая две подзадачи:</a:t>
            </a:r>
          </a:p>
          <a:p>
            <a:pPr lvl="1"/>
            <a:r>
              <a:rPr lang="ru-RU" b="1" dirty="0"/>
              <a:t>Классификация</a:t>
            </a:r>
            <a:r>
              <a:rPr lang="ru-RU" dirty="0"/>
              <a:t> — определить, к какому классу относится объект (</a:t>
            </a:r>
            <a:r>
              <a:rPr lang="ru-RU" dirty="0" err="1"/>
              <a:t>car</a:t>
            </a:r>
            <a:r>
              <a:rPr lang="ru-RU" dirty="0"/>
              <a:t>, </a:t>
            </a:r>
            <a:r>
              <a:rPr lang="ru-RU" dirty="0" err="1"/>
              <a:t>person</a:t>
            </a:r>
            <a:r>
              <a:rPr lang="ru-RU" dirty="0"/>
              <a:t>, </a:t>
            </a:r>
            <a:r>
              <a:rPr lang="ru-RU" dirty="0" err="1"/>
              <a:t>dog</a:t>
            </a:r>
            <a:r>
              <a:rPr lang="ru-RU" dirty="0"/>
              <a:t>...).</a:t>
            </a:r>
          </a:p>
          <a:p>
            <a:pPr lvl="1"/>
            <a:r>
              <a:rPr lang="ru-RU" b="1" dirty="0"/>
              <a:t>Локализация</a:t>
            </a:r>
            <a:r>
              <a:rPr lang="ru-RU" dirty="0"/>
              <a:t> — найти координаты объекта на изображении (</a:t>
            </a:r>
            <a:r>
              <a:rPr lang="ru-RU" dirty="0" err="1"/>
              <a:t>bounding</a:t>
            </a:r>
            <a:r>
              <a:rPr lang="ru-RU" dirty="0"/>
              <a:t> </a:t>
            </a:r>
            <a:r>
              <a:rPr lang="ru-RU" dirty="0" err="1"/>
              <a:t>box</a:t>
            </a:r>
            <a:r>
              <a:rPr lang="ru-RU" dirty="0"/>
              <a:t>).</a:t>
            </a:r>
          </a:p>
          <a:p>
            <a:r>
              <a:rPr lang="ru-RU" dirty="0"/>
              <a:t>В отличие от классификации (один ответ на всё изображение), детекция должна </a:t>
            </a:r>
            <a:r>
              <a:rPr lang="ru-RU" dirty="0" smtClean="0"/>
              <a:t>найти </a:t>
            </a:r>
            <a:r>
              <a:rPr lang="ru-RU" b="1" dirty="0" smtClean="0"/>
              <a:t>произвольное </a:t>
            </a:r>
            <a:r>
              <a:rPr lang="ru-RU" b="1" dirty="0"/>
              <a:t>число объектов</a:t>
            </a:r>
            <a:r>
              <a:rPr lang="ru-RU" dirty="0"/>
              <a:t> разных классов в одном изображении и указать их положение.</a:t>
            </a:r>
          </a:p>
          <a:p>
            <a:r>
              <a:rPr lang="ru-RU" b="1" dirty="0"/>
              <a:t>Формат выхода детектора</a:t>
            </a:r>
            <a:r>
              <a:rPr lang="ru-RU" dirty="0"/>
              <a:t> — список троек для каждого найденного объекта:</a:t>
            </a:r>
          </a:p>
          <a:p>
            <a:r>
              <a:rPr lang="en-US" dirty="0"/>
              <a:t>(</a:t>
            </a:r>
            <a:r>
              <a:rPr lang="en-US" dirty="0" err="1"/>
              <a:t>bbox</a:t>
            </a:r>
            <a:r>
              <a:rPr lang="en-US" dirty="0"/>
              <a:t>, </a:t>
            </a:r>
            <a:r>
              <a:rPr lang="en-US" dirty="0" err="1"/>
              <a:t>class_label</a:t>
            </a:r>
            <a:r>
              <a:rPr lang="en-US" dirty="0"/>
              <a:t>, </a:t>
            </a:r>
            <a:r>
              <a:rPr lang="en-US" dirty="0" err="1"/>
              <a:t>confidence_score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endParaRPr lang="ru-RU" dirty="0"/>
          </a:p>
          <a:p>
            <a:r>
              <a:rPr lang="ru-RU" dirty="0"/>
              <a:t>где</a:t>
            </a:r>
            <a:r>
              <a:rPr lang="en-US" dirty="0"/>
              <a:t> </a:t>
            </a:r>
            <a:r>
              <a:rPr lang="en-US" dirty="0" err="1"/>
              <a:t>bbox</a:t>
            </a:r>
            <a:r>
              <a:rPr lang="en-US" dirty="0"/>
              <a:t> — </a:t>
            </a:r>
            <a:r>
              <a:rPr lang="ru-RU" dirty="0"/>
              <a:t>координаты прямоугольника</a:t>
            </a:r>
            <a:r>
              <a:rPr lang="en-US" dirty="0"/>
              <a:t>, </a:t>
            </a:r>
            <a:r>
              <a:rPr lang="ru-RU" dirty="0"/>
              <a:t>обычно</a:t>
            </a:r>
            <a:r>
              <a:rPr lang="en-US" dirty="0"/>
              <a:t> (</a:t>
            </a:r>
            <a:r>
              <a:rPr lang="en-US" dirty="0" err="1"/>
              <a:t>x_min</a:t>
            </a:r>
            <a:r>
              <a:rPr lang="en-US" dirty="0"/>
              <a:t>, </a:t>
            </a:r>
            <a:r>
              <a:rPr lang="en-US" dirty="0" err="1"/>
              <a:t>y_min</a:t>
            </a:r>
            <a:r>
              <a:rPr lang="en-US" dirty="0"/>
              <a:t>, </a:t>
            </a:r>
            <a:r>
              <a:rPr lang="en-US" dirty="0" err="1"/>
              <a:t>x_max</a:t>
            </a:r>
            <a:r>
              <a:rPr lang="en-US" dirty="0"/>
              <a:t>, </a:t>
            </a:r>
            <a:r>
              <a:rPr lang="en-US" dirty="0" err="1"/>
              <a:t>y_max</a:t>
            </a:r>
            <a:r>
              <a:rPr lang="en-US" dirty="0"/>
              <a:t>) </a:t>
            </a:r>
            <a:r>
              <a:rPr lang="ru-RU" dirty="0"/>
              <a:t>или</a:t>
            </a:r>
            <a:r>
              <a:rPr lang="en-US" dirty="0"/>
              <a:t> (</a:t>
            </a:r>
            <a:r>
              <a:rPr lang="en-US" dirty="0" err="1"/>
              <a:t>x_center</a:t>
            </a:r>
            <a:r>
              <a:rPr lang="en-US" dirty="0"/>
              <a:t>, </a:t>
            </a:r>
            <a:r>
              <a:rPr lang="en-US" dirty="0" err="1"/>
              <a:t>y_center</a:t>
            </a:r>
            <a:r>
              <a:rPr lang="en-US" dirty="0"/>
              <a:t>, w, h).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577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Bounding</a:t>
            </a:r>
            <a:r>
              <a:rPr lang="ru-RU" b="1" dirty="0"/>
              <a:t> </a:t>
            </a:r>
            <a:r>
              <a:rPr lang="ru-RU" b="1" dirty="0" err="1"/>
              <a:t>Box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Bounding</a:t>
            </a:r>
            <a:r>
              <a:rPr lang="ru-RU" dirty="0"/>
              <a:t> </a:t>
            </a:r>
            <a:r>
              <a:rPr lang="ru-RU" dirty="0" err="1"/>
              <a:t>box</a:t>
            </a:r>
            <a:r>
              <a:rPr lang="ru-RU" dirty="0"/>
              <a:t> (ограничивающий прямоугольник) — минимальный прямоугольник, охватывающий объект.</a:t>
            </a:r>
            <a:br>
              <a:rPr lang="ru-RU" dirty="0"/>
            </a:br>
            <a:r>
              <a:rPr lang="ru-RU" dirty="0"/>
              <a:t>Задается четырьмя координатами. Является основным форматом обучающих данных для YOLO, </a:t>
            </a:r>
            <a:r>
              <a:rPr lang="ru-RU" dirty="0" err="1"/>
              <a:t>Faster</a:t>
            </a:r>
            <a:r>
              <a:rPr lang="ru-RU" dirty="0"/>
              <a:t> R-CNN, SSD.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042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Intersection</a:t>
            </a:r>
            <a:r>
              <a:rPr lang="ru-RU" b="1" dirty="0"/>
              <a:t> </a:t>
            </a:r>
            <a:r>
              <a:rPr lang="ru-RU" b="1" dirty="0" err="1"/>
              <a:t>over</a:t>
            </a:r>
            <a:r>
              <a:rPr lang="ru-RU" b="1" dirty="0"/>
              <a:t> </a:t>
            </a:r>
            <a:r>
              <a:rPr lang="ru-RU" b="1" dirty="0" err="1"/>
              <a:t>Union</a:t>
            </a:r>
            <a:r>
              <a:rPr lang="ru-RU" b="1" dirty="0"/>
              <a:t> (</a:t>
            </a:r>
            <a:r>
              <a:rPr lang="ru-RU" b="1" dirty="0" err="1"/>
              <a:t>IoU</a:t>
            </a:r>
            <a:r>
              <a:rPr lang="ru-RU" b="1" dirty="0" smtClean="0"/>
              <a:t>)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 err="1" smtClean="0"/>
                  <a:t>IoU</a:t>
                </a:r>
                <a:r>
                  <a:rPr lang="ru-RU" dirty="0" smtClean="0"/>
                  <a:t> </a:t>
                </a:r>
                <a:r>
                  <a:rPr lang="ru-RU" dirty="0"/>
                  <a:t>— ключевая метрика для сравнения предсказанного </a:t>
                </a:r>
                <a:r>
                  <a:rPr lang="ru-RU" dirty="0" err="1"/>
                  <a:t>bbox</a:t>
                </a:r>
                <a:r>
                  <a:rPr lang="ru-RU" dirty="0"/>
                  <a:t> с истинным (</a:t>
                </a:r>
                <a:r>
                  <a:rPr lang="ru-RU" dirty="0" err="1"/>
                  <a:t>ground</a:t>
                </a:r>
                <a:r>
                  <a:rPr lang="ru-RU" dirty="0"/>
                  <a:t> </a:t>
                </a:r>
                <a:r>
                  <a:rPr lang="ru-RU" dirty="0" err="1"/>
                  <a:t>truth</a:t>
                </a:r>
                <a:r>
                  <a:rPr lang="ru-RU" dirty="0"/>
                  <a:t>):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/>
                        <m:t>𝐼𝑜𝑈</m:t>
                      </m:r>
                      <m:r>
                        <a:rPr lang="en-US"/>
                        <m:t>=</m:t>
                      </m:r>
                      <m:f>
                        <m:fPr>
                          <m:ctrlPr>
                            <a:rPr lang="ru-RU" i="1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/>
                            <m:t>Area</m:t>
                          </m:r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  <m:r>
                            <m:rPr>
                              <m:nor/>
                            </m:rPr>
                            <a:rPr lang="en-US"/>
                            <m:t>of</m:t>
                          </m:r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  <m:r>
                            <m:rPr>
                              <m:nor/>
                            </m:rPr>
                            <a:rPr lang="en-US"/>
                            <m:t>Intersection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/>
                            <m:t>Area</m:t>
                          </m:r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  <m:r>
                            <m:rPr>
                              <m:nor/>
                            </m:rPr>
                            <a:rPr lang="en-US"/>
                            <m:t>of</m:t>
                          </m:r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  <m:r>
                            <m:rPr>
                              <m:nor/>
                            </m:rPr>
                            <a:rPr lang="en-US"/>
                            <m:t>Union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Значения от 0 (нет пересечения) до 1 (идеальное совпадение</a:t>
                </a:r>
                <a:r>
                  <a:rPr lang="ru-RU" dirty="0" smtClean="0"/>
                  <a:t>).</a:t>
                </a:r>
              </a:p>
              <a:p>
                <a:r>
                  <a:rPr lang="ru-RU" dirty="0"/>
                  <a:t>Детекция считается </a:t>
                </a:r>
                <a:r>
                  <a:rPr lang="ru-RU" b="1" dirty="0"/>
                  <a:t>истинно положительной (</a:t>
                </a:r>
                <a:r>
                  <a:rPr lang="ru-RU" b="1" dirty="0" err="1"/>
                  <a:t>True</a:t>
                </a:r>
                <a:r>
                  <a:rPr lang="ru-RU" b="1" dirty="0"/>
                  <a:t> </a:t>
                </a:r>
                <a:r>
                  <a:rPr lang="ru-RU" b="1" dirty="0" err="1"/>
                  <a:t>Positive</a:t>
                </a:r>
                <a:r>
                  <a:rPr lang="ru-RU" b="1" dirty="0"/>
                  <a:t>)</a:t>
                </a:r>
                <a:r>
                  <a:rPr lang="ru-RU" dirty="0"/>
                  <a:t>, если </a:t>
                </a:r>
                <a:r>
                  <a:rPr lang="ru-RU" dirty="0" err="1"/>
                  <a:t>IoU</a:t>
                </a:r>
                <a:r>
                  <a:rPr lang="ru-RU" dirty="0"/>
                  <a:t>(</a:t>
                </a:r>
                <a:r>
                  <a:rPr lang="ru-RU" dirty="0" err="1"/>
                  <a:t>pred</a:t>
                </a:r>
                <a:r>
                  <a:rPr lang="ru-RU" dirty="0"/>
                  <a:t>, </a:t>
                </a:r>
                <a:r>
                  <a:rPr lang="ru-RU" dirty="0" err="1"/>
                  <a:t>gt</a:t>
                </a:r>
                <a:r>
                  <a:rPr lang="ru-RU" dirty="0"/>
                  <a:t>) ≥ </a:t>
                </a:r>
                <a:r>
                  <a:rPr lang="ru-RU" dirty="0" smtClean="0"/>
                  <a:t>порога и </a:t>
                </a:r>
                <a:r>
                  <a:rPr lang="ru-RU" dirty="0"/>
                  <a:t>класс предсказан верно.</a:t>
                </a:r>
              </a:p>
              <a:p>
                <a:r>
                  <a:rPr lang="ru-RU" b="1" dirty="0" smtClean="0"/>
                  <a:t>Пороговые </a:t>
                </a:r>
              </a:p>
              <a:p>
                <a:r>
                  <a:rPr lang="ru-RU" b="1" dirty="0" smtClean="0"/>
                  <a:t>значения </a:t>
                </a:r>
                <a:r>
                  <a:rPr lang="ru-RU" b="1" dirty="0" err="1"/>
                  <a:t>IoU</a:t>
                </a:r>
                <a:r>
                  <a:rPr lang="ru-RU" b="1" dirty="0" smtClean="0"/>
                  <a:t>: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5" t="-2061" r="-4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740734"/>
              </p:ext>
            </p:extLst>
          </p:nvPr>
        </p:nvGraphicFramePr>
        <p:xfrm>
          <a:off x="4047227" y="4210615"/>
          <a:ext cx="7306573" cy="1869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9864">
                  <a:extLst>
                    <a:ext uri="{9D8B030D-6E8A-4147-A177-3AD203B41FA5}">
                      <a16:colId xmlns:a16="http://schemas.microsoft.com/office/drawing/2014/main" val="3404154906"/>
                    </a:ext>
                  </a:extLst>
                </a:gridCol>
                <a:gridCol w="5916709">
                  <a:extLst>
                    <a:ext uri="{9D8B030D-6E8A-4147-A177-3AD203B41FA5}">
                      <a16:colId xmlns:a16="http://schemas.microsoft.com/office/drawing/2014/main" val="2520491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Порог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Область применения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335290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0.50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Минимальный стандарт COCO </a:t>
                      </a:r>
                      <a:r>
                        <a:rPr lang="ru-RU" sz="2400" dirty="0" err="1">
                          <a:effectLst/>
                        </a:rPr>
                        <a:t>benchmark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468976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0.75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Промышленный (</a:t>
                      </a:r>
                      <a:r>
                        <a:rPr lang="ru-RU" sz="2400" dirty="0" err="1">
                          <a:effectLst/>
                        </a:rPr>
                        <a:t>enterprise</a:t>
                      </a:r>
                      <a:r>
                        <a:rPr lang="ru-RU" sz="2400" dirty="0">
                          <a:effectLst/>
                        </a:rPr>
                        <a:t>) стандарт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217315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0.90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Безопасность (автопилот, медицина)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666961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5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2. </a:t>
            </a:r>
            <a:r>
              <a:rPr lang="ru-RU" b="1" dirty="0"/>
              <a:t>Два подхода к детекции: </a:t>
            </a:r>
            <a:r>
              <a:rPr lang="ru-RU" b="1" dirty="0" err="1"/>
              <a:t>Two-Stage</a:t>
            </a:r>
            <a:r>
              <a:rPr lang="ru-RU" b="1" dirty="0"/>
              <a:t> </a:t>
            </a:r>
            <a:r>
              <a:rPr lang="ru-RU" b="1" dirty="0" err="1"/>
              <a:t>vs</a:t>
            </a:r>
            <a:r>
              <a:rPr lang="ru-RU" b="1" dirty="0"/>
              <a:t> </a:t>
            </a:r>
            <a:r>
              <a:rPr lang="ru-RU" b="1" dirty="0" err="1"/>
              <a:t>One-Stage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2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Two-Stage</a:t>
            </a:r>
            <a:r>
              <a:rPr lang="ru-RU" b="1" dirty="0"/>
              <a:t> детекторы (R-CNN семейство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smtClean="0"/>
              <a:t>Этап </a:t>
            </a:r>
            <a:r>
              <a:rPr lang="ru-RU" b="1" dirty="0"/>
              <a:t>1:</a:t>
            </a:r>
            <a:r>
              <a:rPr lang="ru-RU" dirty="0"/>
              <a:t> генерация </a:t>
            </a:r>
            <a:r>
              <a:rPr lang="ru-RU" dirty="0" err="1"/>
              <a:t>region</a:t>
            </a:r>
            <a:r>
              <a:rPr lang="ru-RU" dirty="0"/>
              <a:t> </a:t>
            </a:r>
            <a:r>
              <a:rPr lang="ru-RU" dirty="0" err="1"/>
              <a:t>proposals</a:t>
            </a:r>
            <a:r>
              <a:rPr lang="ru-RU" dirty="0"/>
              <a:t> — областей, которые могут содержать объект.</a:t>
            </a:r>
            <a:br>
              <a:rPr lang="ru-RU" dirty="0"/>
            </a:br>
            <a:r>
              <a:rPr lang="ru-RU" b="1" dirty="0"/>
              <a:t>Этап 2:</a:t>
            </a:r>
            <a:r>
              <a:rPr lang="ru-RU" dirty="0"/>
              <a:t> классификация каждой области + уточнение </a:t>
            </a:r>
            <a:r>
              <a:rPr lang="ru-RU" dirty="0" err="1"/>
              <a:t>bbox</a:t>
            </a:r>
            <a:r>
              <a:rPr lang="ru-RU" dirty="0"/>
              <a:t>.</a:t>
            </a:r>
          </a:p>
          <a:p>
            <a:r>
              <a:rPr lang="ru-RU" b="1" dirty="0"/>
              <a:t>R-CNN (2014)</a:t>
            </a:r>
            <a:endParaRPr lang="ru-RU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Selective Search </a:t>
            </a:r>
            <a:r>
              <a:rPr lang="ru-RU" dirty="0"/>
              <a:t>генерирует</a:t>
            </a:r>
            <a:r>
              <a:rPr lang="en-US" dirty="0"/>
              <a:t> ~2000 region proposals </a:t>
            </a:r>
            <a:r>
              <a:rPr lang="ru-RU" dirty="0"/>
              <a:t>на изображении</a:t>
            </a:r>
            <a:r>
              <a:rPr lang="en-US" dirty="0"/>
              <a:t>.</a:t>
            </a:r>
            <a:endParaRPr lang="ru-RU" dirty="0"/>
          </a:p>
          <a:p>
            <a:pPr marL="514350" lvl="0" indent="-514350">
              <a:buFont typeface="+mj-lt"/>
              <a:buAutoNum type="arabicPeriod"/>
            </a:pPr>
            <a:r>
              <a:rPr lang="ru-RU" dirty="0"/>
              <a:t>Каждый регион вырезается и масштабируется до фиксированного размера.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/>
              <a:t>CNN (например, </a:t>
            </a:r>
            <a:r>
              <a:rPr lang="ru-RU" dirty="0" err="1"/>
              <a:t>AlexNet</a:t>
            </a:r>
            <a:r>
              <a:rPr lang="ru-RU" dirty="0"/>
              <a:t>) извлекает признаки из каждого региона отдельно.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/>
              <a:t>SVM классифицирует объект, отдельная регрессия уточняет </a:t>
            </a:r>
            <a:r>
              <a:rPr lang="ru-RU" dirty="0" err="1"/>
              <a:t>bbox</a:t>
            </a:r>
            <a:r>
              <a:rPr lang="ru-RU" dirty="0"/>
              <a:t>.</a:t>
            </a:r>
          </a:p>
          <a:p>
            <a:r>
              <a:rPr lang="ru-RU" b="1" dirty="0"/>
              <a:t>Проблема:</a:t>
            </a:r>
            <a:r>
              <a:rPr lang="ru-RU" dirty="0"/>
              <a:t> ~2000 отдельных проходов CNN на одно изображение → очень </a:t>
            </a:r>
            <a:r>
              <a:rPr lang="ru-RU" dirty="0" smtClean="0"/>
              <a:t>медленно (</a:t>
            </a:r>
            <a:r>
              <a:rPr lang="ru-RU" dirty="0"/>
              <a:t>секунды на изображение, непригодно для </a:t>
            </a:r>
            <a:r>
              <a:rPr lang="ru-RU" dirty="0" err="1"/>
              <a:t>real-time</a:t>
            </a:r>
            <a:r>
              <a:rPr lang="ru-RU" dirty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998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Two-Stage</a:t>
            </a:r>
            <a:r>
              <a:rPr lang="ru-RU" b="1" dirty="0"/>
              <a:t> детекторы (R-CNN семейство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Fast</a:t>
            </a:r>
            <a:r>
              <a:rPr lang="ru-RU" b="1" dirty="0"/>
              <a:t> R-CNN (2015)</a:t>
            </a:r>
            <a:endParaRPr lang="ru-RU" dirty="0"/>
          </a:p>
          <a:p>
            <a:r>
              <a:rPr lang="ru-RU" dirty="0"/>
              <a:t>Ключевое улучшение: CNN применяется </a:t>
            </a:r>
            <a:r>
              <a:rPr lang="ru-RU" b="1" dirty="0"/>
              <a:t>один раз</a:t>
            </a:r>
            <a:r>
              <a:rPr lang="ru-RU" dirty="0"/>
              <a:t> ко всему изображению, получаем общую </a:t>
            </a:r>
            <a:r>
              <a:rPr lang="ru-RU" dirty="0" err="1"/>
              <a:t>feature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 err="1"/>
              <a:t>Region</a:t>
            </a:r>
            <a:r>
              <a:rPr lang="ru-RU" dirty="0"/>
              <a:t> </a:t>
            </a:r>
            <a:r>
              <a:rPr lang="ru-RU" dirty="0" err="1"/>
              <a:t>proposals</a:t>
            </a:r>
            <a:r>
              <a:rPr lang="ru-RU" dirty="0"/>
              <a:t> (от </a:t>
            </a:r>
            <a:r>
              <a:rPr lang="ru-RU" dirty="0" err="1"/>
              <a:t>Selective</a:t>
            </a:r>
            <a:r>
              <a:rPr lang="ru-RU" dirty="0"/>
              <a:t> </a:t>
            </a:r>
            <a:r>
              <a:rPr lang="ru-RU" dirty="0" err="1"/>
              <a:t>Search</a:t>
            </a:r>
            <a:r>
              <a:rPr lang="ru-RU" dirty="0"/>
              <a:t>) проецируются на эту </a:t>
            </a:r>
            <a:r>
              <a:rPr lang="ru-RU" dirty="0" err="1"/>
              <a:t>feature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, для каждого </a:t>
            </a:r>
            <a:r>
              <a:rPr lang="ru-RU" dirty="0" smtClean="0"/>
              <a:t>региона применяется </a:t>
            </a:r>
            <a:r>
              <a:rPr lang="ru-RU" b="1" dirty="0" err="1"/>
              <a:t>RoI</a:t>
            </a:r>
            <a:r>
              <a:rPr lang="ru-RU" b="1" dirty="0"/>
              <a:t> </a:t>
            </a:r>
            <a:r>
              <a:rPr lang="ru-RU" b="1" dirty="0" err="1"/>
              <a:t>Pooling</a:t>
            </a:r>
            <a:r>
              <a:rPr lang="ru-RU" dirty="0"/>
              <a:t> — извлечение фиксированного размера вектора признаков.</a:t>
            </a:r>
          </a:p>
          <a:p>
            <a:r>
              <a:rPr lang="ru-RU" dirty="0"/>
              <a:t>Результат: значительно быстрее R-CNN, так как вычисления для перекрывающихся регионов не повторяются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56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Two-Stage</a:t>
            </a:r>
            <a:r>
              <a:rPr lang="ru-RU" b="1" dirty="0"/>
              <a:t> детекторы (R-CNN семейство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/>
              <a:t>Faster</a:t>
            </a:r>
            <a:r>
              <a:rPr lang="ru-RU" b="1" dirty="0"/>
              <a:t> R-CNN (2015)</a:t>
            </a:r>
            <a:endParaRPr lang="ru-RU" dirty="0"/>
          </a:p>
          <a:p>
            <a:r>
              <a:rPr lang="ru-RU" dirty="0"/>
              <a:t>Заменяет </a:t>
            </a:r>
            <a:r>
              <a:rPr lang="ru-RU" dirty="0" err="1"/>
              <a:t>Selective</a:t>
            </a:r>
            <a:r>
              <a:rPr lang="ru-RU" dirty="0"/>
              <a:t> </a:t>
            </a:r>
            <a:r>
              <a:rPr lang="ru-RU" dirty="0" err="1"/>
              <a:t>Search</a:t>
            </a:r>
            <a:r>
              <a:rPr lang="ru-RU" dirty="0"/>
              <a:t> (внешний, медленный алгоритм) на </a:t>
            </a:r>
            <a:r>
              <a:rPr lang="ru-RU" b="1" dirty="0" err="1"/>
              <a:t>Region</a:t>
            </a:r>
            <a:r>
              <a:rPr lang="ru-RU" b="1" dirty="0"/>
              <a:t> </a:t>
            </a:r>
            <a:r>
              <a:rPr lang="ru-RU" b="1" dirty="0" err="1"/>
              <a:t>Proposal</a:t>
            </a:r>
            <a:r>
              <a:rPr lang="ru-RU" b="1" dirty="0"/>
              <a:t> </a:t>
            </a:r>
            <a:r>
              <a:rPr lang="ru-RU" b="1" dirty="0" err="1"/>
              <a:t>Network</a:t>
            </a:r>
            <a:r>
              <a:rPr lang="ru-RU" b="1" dirty="0"/>
              <a:t> (RPN)</a:t>
            </a:r>
            <a:r>
              <a:rPr lang="ru-RU" dirty="0"/>
              <a:t> </a:t>
            </a:r>
            <a:r>
              <a:rPr lang="ru-RU" dirty="0" smtClean="0"/>
              <a:t>— небольшую </a:t>
            </a:r>
            <a:r>
              <a:rPr lang="ru-RU" dirty="0"/>
              <a:t>нейросеть, встроенную в общий </a:t>
            </a:r>
            <a:r>
              <a:rPr lang="ru-RU" dirty="0" err="1"/>
              <a:t>pipeline</a:t>
            </a:r>
            <a:r>
              <a:rPr lang="ru-RU" dirty="0"/>
              <a:t>, которая учится генерировать регионы-кандидаты.</a:t>
            </a:r>
          </a:p>
          <a:p>
            <a:r>
              <a:rPr lang="ru-RU" dirty="0"/>
              <a:t>RPN использует </a:t>
            </a:r>
            <a:r>
              <a:rPr lang="ru-RU" b="1" dirty="0" err="1"/>
              <a:t>anchor</a:t>
            </a:r>
            <a:r>
              <a:rPr lang="ru-RU" b="1" dirty="0"/>
              <a:t> </a:t>
            </a:r>
            <a:r>
              <a:rPr lang="ru-RU" b="1" dirty="0" err="1"/>
              <a:t>boxes</a:t>
            </a:r>
            <a:r>
              <a:rPr lang="ru-RU" dirty="0"/>
              <a:t> — заранее заданные прямоугольники разных масштабов и соотношений сторон (обычно 9: 3 масштаба × 3 </a:t>
            </a:r>
            <a:r>
              <a:rPr lang="ru-RU" dirty="0" err="1"/>
              <a:t>aspect</a:t>
            </a:r>
            <a:r>
              <a:rPr lang="ru-RU" dirty="0"/>
              <a:t> </a:t>
            </a:r>
            <a:r>
              <a:rPr lang="ru-RU" dirty="0" err="1"/>
              <a:t>ratio</a:t>
            </a:r>
            <a:r>
              <a:rPr lang="ru-RU" dirty="0"/>
              <a:t>), размещенные в каждой позиции </a:t>
            </a:r>
            <a:r>
              <a:rPr lang="ru-RU" dirty="0" err="1"/>
              <a:t>feature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 err="1"/>
              <a:t>Anchor'ы</a:t>
            </a:r>
            <a:r>
              <a:rPr lang="ru-RU" dirty="0"/>
              <a:t> классифицируются как «объект/фон» и корректируются регрессией.</a:t>
            </a:r>
          </a:p>
          <a:p>
            <a:r>
              <a:rPr lang="ru-RU" dirty="0" err="1"/>
              <a:t>Faster</a:t>
            </a:r>
            <a:r>
              <a:rPr lang="ru-RU" dirty="0"/>
              <a:t> R-CNN — полностью </a:t>
            </a:r>
            <a:r>
              <a:rPr lang="ru-RU" dirty="0" err="1"/>
              <a:t>end-to-end</a:t>
            </a:r>
            <a:r>
              <a:rPr lang="ru-RU" dirty="0"/>
              <a:t> обучаемая сеть, первая обученная детекция в реальном времени.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883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One-Stage </a:t>
            </a:r>
            <a:r>
              <a:rPr lang="ru-RU" b="1" dirty="0"/>
              <a:t>детекторы</a:t>
            </a:r>
            <a:r>
              <a:rPr lang="en-US" b="1" dirty="0"/>
              <a:t> (YOLO, SSD</a:t>
            </a:r>
            <a:r>
              <a:rPr lang="en-US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Идея</a:t>
            </a:r>
            <a:r>
              <a:rPr lang="ru-RU" dirty="0"/>
              <a:t>: </a:t>
            </a:r>
            <a:r>
              <a:rPr lang="ru-RU" b="1" dirty="0"/>
              <a:t>предсказывать </a:t>
            </a:r>
            <a:r>
              <a:rPr lang="ru-RU" b="1" dirty="0" err="1"/>
              <a:t>bbox</a:t>
            </a:r>
            <a:r>
              <a:rPr lang="ru-RU" b="1" dirty="0"/>
              <a:t> и класс одним проходом сети</a:t>
            </a:r>
            <a:r>
              <a:rPr lang="ru-RU" dirty="0"/>
              <a:t>, без отдельного этапа </a:t>
            </a:r>
            <a:r>
              <a:rPr lang="ru-RU" dirty="0" smtClean="0"/>
              <a:t>генерации </a:t>
            </a:r>
            <a:r>
              <a:rPr lang="ru-RU" dirty="0" err="1" smtClean="0"/>
              <a:t>region</a:t>
            </a:r>
            <a:r>
              <a:rPr lang="ru-RU" dirty="0" smtClean="0"/>
              <a:t> </a:t>
            </a:r>
            <a:r>
              <a:rPr lang="ru-RU" dirty="0" err="1"/>
              <a:t>proposals</a:t>
            </a:r>
            <a:r>
              <a:rPr lang="ru-RU" dirty="0"/>
              <a:t>. Значительно быстрее, но исторически менее точны на мелких объектах</a:t>
            </a:r>
            <a:br>
              <a:rPr lang="ru-RU" dirty="0"/>
            </a:br>
            <a:r>
              <a:rPr lang="ru-RU" dirty="0"/>
              <a:t>(разница почти исчезла в современных версиях).</a:t>
            </a:r>
          </a:p>
          <a:p>
            <a:r>
              <a:rPr lang="en-US" b="1" dirty="0"/>
              <a:t>YOLO (You Only Look Once, 2015)</a:t>
            </a:r>
            <a:endParaRPr lang="ru-RU" dirty="0"/>
          </a:p>
          <a:p>
            <a:r>
              <a:rPr lang="ru-RU" dirty="0"/>
              <a:t>Изображение делится на сетку S×S ячеек. Каждая ячейка предсказывает: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/>
              <a:t>B bounding box'</a:t>
            </a:r>
            <a:r>
              <a:rPr lang="ru-RU" dirty="0" err="1"/>
              <a:t>ов</a:t>
            </a:r>
            <a:r>
              <a:rPr lang="en-US" dirty="0"/>
              <a:t> (</a:t>
            </a:r>
            <a:r>
              <a:rPr lang="ru-RU" dirty="0"/>
              <a:t>координаты</a:t>
            </a:r>
            <a:r>
              <a:rPr lang="en-US" dirty="0"/>
              <a:t> + confidence)</a:t>
            </a:r>
            <a:endParaRPr lang="ru-RU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вероятности принадлежности к C классам</a:t>
            </a:r>
          </a:p>
          <a:p>
            <a:r>
              <a:rPr lang="ru-RU" dirty="0"/>
              <a:t>Все вычисляется </a:t>
            </a:r>
            <a:r>
              <a:rPr lang="ru-RU" b="1" dirty="0"/>
              <a:t>одним </a:t>
            </a:r>
            <a:r>
              <a:rPr lang="ru-RU" b="1" dirty="0" err="1"/>
              <a:t>forward</a:t>
            </a:r>
            <a:r>
              <a:rPr lang="ru-RU" b="1" dirty="0"/>
              <a:t> </a:t>
            </a:r>
            <a:r>
              <a:rPr lang="ru-RU" b="1" dirty="0" err="1"/>
              <a:t>pass</a:t>
            </a:r>
            <a:r>
              <a:rPr lang="ru-RU" dirty="0"/>
              <a:t> через сеть — отсюда название «смотрим только раз</a:t>
            </a:r>
            <a:r>
              <a:rPr lang="ru-RU" dirty="0" smtClean="0"/>
              <a:t>».</a:t>
            </a:r>
          </a:p>
          <a:p>
            <a:r>
              <a:rPr lang="ru-RU" dirty="0"/>
              <a:t>YOLOv12-N достигает 40.6% </a:t>
            </a:r>
            <a:r>
              <a:rPr lang="ru-RU" dirty="0" err="1"/>
              <a:t>mAP</a:t>
            </a:r>
            <a:r>
              <a:rPr lang="ru-RU" dirty="0"/>
              <a:t> при задержке 1.64мс на GPU T4.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033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Эволюция YOLO: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9003993"/>
              </p:ext>
            </p:extLst>
          </p:nvPr>
        </p:nvGraphicFramePr>
        <p:xfrm>
          <a:off x="1562100" y="1144589"/>
          <a:ext cx="9997295" cy="4117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533">
                  <a:extLst>
                    <a:ext uri="{9D8B030D-6E8A-4147-A177-3AD203B41FA5}">
                      <a16:colId xmlns:a16="http://schemas.microsoft.com/office/drawing/2014/main" val="2295973718"/>
                    </a:ext>
                  </a:extLst>
                </a:gridCol>
                <a:gridCol w="1127365">
                  <a:extLst>
                    <a:ext uri="{9D8B030D-6E8A-4147-A177-3AD203B41FA5}">
                      <a16:colId xmlns:a16="http://schemas.microsoft.com/office/drawing/2014/main" val="1657981335"/>
                    </a:ext>
                  </a:extLst>
                </a:gridCol>
                <a:gridCol w="6457397">
                  <a:extLst>
                    <a:ext uri="{9D8B030D-6E8A-4147-A177-3AD203B41FA5}">
                      <a16:colId xmlns:a16="http://schemas.microsoft.com/office/drawing/2014/main" val="3843636216"/>
                    </a:ext>
                  </a:extLst>
                </a:gridCol>
              </a:tblGrid>
              <a:tr h="4041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Версия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Год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Ключевые изменения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151452055"/>
                  </a:ext>
                </a:extLst>
              </a:tr>
              <a:tr h="4041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YOLOv1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2015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Базовая grid-based архитектура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124524342"/>
                  </a:ext>
                </a:extLst>
              </a:tr>
              <a:tr h="4041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YOLOv2/YOLO9000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2016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Anchor boxes, batch normalization, multi-scale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898863553"/>
                  </a:ext>
                </a:extLst>
              </a:tr>
              <a:tr h="6989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YOLOv3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2018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Backbone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 Darknet-53, предсказания на 3 масштабах (FPN-подобно)</a:t>
                      </a:r>
                      <a:endParaRPr lang="ru-RU" sz="28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839596775"/>
                  </a:ext>
                </a:extLst>
              </a:tr>
              <a:tr h="4041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YOLOv4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2020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CSPDarknet53, Mosaic augmentation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409148618"/>
                  </a:ext>
                </a:extLst>
              </a:tr>
              <a:tr h="6989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YOLOv5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2020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PyTorch-реализация, широкое промышленное применение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434871231"/>
                  </a:ext>
                </a:extLst>
              </a:tr>
              <a:tr h="4041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YOLOv8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2023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Anchor-free детекция, единый API Ultralytics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60182872"/>
                  </a:ext>
                </a:extLst>
              </a:tr>
              <a:tr h="6989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YOLOv10/11/12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2024–2025</a:t>
                      </a:r>
                      <a:endParaRPr lang="ru-RU" sz="2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NMS-</a:t>
                      </a:r>
                      <a:r>
                        <a:rPr lang="ru-RU" sz="1800" dirty="0" err="1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free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 дизайн, </a:t>
                      </a:r>
                      <a:r>
                        <a:rPr lang="ru-RU" sz="1800" dirty="0" err="1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attention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-механизмы, </a:t>
                      </a:r>
                      <a:r>
                        <a:rPr lang="ru-RU" sz="1800" dirty="0" err="1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edge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-оптимизация</a:t>
                      </a:r>
                      <a:endParaRPr lang="ru-RU" sz="28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662961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94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SSD (Single Shot </a:t>
            </a:r>
            <a:r>
              <a:rPr lang="en-US" b="1" dirty="0" err="1"/>
              <a:t>MultiBox</a:t>
            </a:r>
            <a:r>
              <a:rPr lang="en-US" b="1" dirty="0"/>
              <a:t> Detector, 2015</a:t>
            </a:r>
            <a:r>
              <a:rPr lang="en-US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Использует </a:t>
            </a:r>
            <a:r>
              <a:rPr lang="en-US" dirty="0"/>
              <a:t>backbone</a:t>
            </a:r>
            <a:r>
              <a:rPr lang="ru-RU" dirty="0"/>
              <a:t> (обычно </a:t>
            </a:r>
            <a:r>
              <a:rPr lang="en-US" dirty="0"/>
              <a:t>VGG</a:t>
            </a:r>
            <a:r>
              <a:rPr lang="ru-RU" dirty="0"/>
              <a:t>16 или </a:t>
            </a:r>
            <a:r>
              <a:rPr lang="en-US" dirty="0" err="1"/>
              <a:t>ResNet</a:t>
            </a:r>
            <a:r>
              <a:rPr lang="en-US" dirty="0"/>
              <a:t> </a:t>
            </a:r>
            <a:r>
              <a:rPr lang="ru-RU" dirty="0"/>
              <a:t>без последнего </a:t>
            </a:r>
            <a:r>
              <a:rPr lang="en-US" dirty="0"/>
              <a:t>FC</a:t>
            </a:r>
            <a:r>
              <a:rPr lang="ru-RU" dirty="0"/>
              <a:t>-слоя) как </a:t>
            </a:r>
            <a:r>
              <a:rPr lang="en-US" dirty="0"/>
              <a:t>feature extractor</a:t>
            </a:r>
            <a:r>
              <a:rPr lang="ru-RU" dirty="0" smtClean="0"/>
              <a:t>, затем </a:t>
            </a:r>
            <a:r>
              <a:rPr lang="ru-RU" dirty="0"/>
              <a:t>добавляет несколько сверточных слоев, формирующих </a:t>
            </a:r>
            <a:r>
              <a:rPr lang="en-US" b="1" dirty="0"/>
              <a:t>feature maps </a:t>
            </a:r>
            <a:r>
              <a:rPr lang="ru-RU" b="1" dirty="0"/>
              <a:t>разного разрешения</a:t>
            </a:r>
            <a:r>
              <a:rPr lang="ru-RU" dirty="0"/>
              <a:t>.</a:t>
            </a:r>
          </a:p>
          <a:p>
            <a:r>
              <a:rPr lang="ru-RU" dirty="0"/>
              <a:t>Ключевая идея: </a:t>
            </a:r>
            <a:r>
              <a:rPr lang="ru-RU" b="1" dirty="0" err="1"/>
              <a:t>multi-scale</a:t>
            </a:r>
            <a:r>
              <a:rPr lang="ru-RU" b="1" dirty="0"/>
              <a:t> </a:t>
            </a:r>
            <a:r>
              <a:rPr lang="ru-RU" b="1" dirty="0" err="1"/>
              <a:t>predictions</a:t>
            </a:r>
            <a:r>
              <a:rPr lang="ru-RU" dirty="0"/>
              <a:t> — крупные </a:t>
            </a:r>
            <a:r>
              <a:rPr lang="ru-RU" dirty="0" err="1"/>
              <a:t>feature</a:t>
            </a:r>
            <a:r>
              <a:rPr lang="ru-RU" dirty="0"/>
              <a:t> </a:t>
            </a:r>
            <a:r>
              <a:rPr lang="ru-RU" dirty="0" err="1"/>
              <a:t>maps</a:t>
            </a:r>
            <a:r>
              <a:rPr lang="ru-RU" dirty="0"/>
              <a:t> (высокое разрешение</a:t>
            </a:r>
            <a:r>
              <a:rPr lang="ru-RU" dirty="0" smtClean="0"/>
              <a:t>) отвечают </a:t>
            </a:r>
            <a:r>
              <a:rPr lang="ru-RU" dirty="0"/>
              <a:t>за мелкие объекты, мелкие </a:t>
            </a:r>
            <a:r>
              <a:rPr lang="ru-RU" dirty="0" err="1"/>
              <a:t>feature</a:t>
            </a:r>
            <a:r>
              <a:rPr lang="ru-RU" dirty="0"/>
              <a:t> </a:t>
            </a:r>
            <a:r>
              <a:rPr lang="ru-RU" dirty="0" err="1"/>
              <a:t>maps</a:t>
            </a:r>
            <a:r>
              <a:rPr lang="ru-RU" dirty="0"/>
              <a:t> (низкое разрешение) — за крупные объекты.</a:t>
            </a:r>
          </a:p>
          <a:p>
            <a:r>
              <a:rPr lang="ru-RU" dirty="0"/>
              <a:t>Для каждой ячейки каждого </a:t>
            </a:r>
            <a:r>
              <a:rPr lang="ru-RU" dirty="0" err="1"/>
              <a:t>feature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задаются </a:t>
            </a:r>
            <a:r>
              <a:rPr lang="ru-RU" b="1" dirty="0" err="1"/>
              <a:t>default</a:t>
            </a:r>
            <a:r>
              <a:rPr lang="ru-RU" b="1" dirty="0"/>
              <a:t> </a:t>
            </a:r>
            <a:r>
              <a:rPr lang="ru-RU" b="1" dirty="0" err="1"/>
              <a:t>boxes</a:t>
            </a:r>
            <a:r>
              <a:rPr lang="ru-RU" dirty="0"/>
              <a:t> (аналог </a:t>
            </a:r>
            <a:r>
              <a:rPr lang="ru-RU" dirty="0" err="1"/>
              <a:t>anchor</a:t>
            </a:r>
            <a:r>
              <a:rPr lang="ru-RU" dirty="0"/>
              <a:t> </a:t>
            </a:r>
            <a:r>
              <a:rPr lang="ru-RU" dirty="0" err="1"/>
              <a:t>boxes</a:t>
            </a:r>
            <a:r>
              <a:rPr lang="ru-RU" dirty="0" smtClean="0"/>
              <a:t>), предсказываются </a:t>
            </a:r>
            <a:r>
              <a:rPr lang="ru-RU" dirty="0" err="1"/>
              <a:t>class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+ </a:t>
            </a:r>
            <a:r>
              <a:rPr lang="ru-RU" dirty="0" err="1"/>
              <a:t>bbox</a:t>
            </a:r>
            <a:r>
              <a:rPr lang="ru-RU" dirty="0"/>
              <a:t> </a:t>
            </a:r>
            <a:r>
              <a:rPr lang="ru-RU" dirty="0" err="1"/>
              <a:t>offsets</a:t>
            </a:r>
            <a:r>
              <a:rPr lang="ru-RU" dirty="0"/>
              <a:t>. Финальный этап — </a:t>
            </a:r>
            <a:r>
              <a:rPr lang="ru-RU" dirty="0" err="1"/>
              <a:t>Non-Maximum</a:t>
            </a:r>
            <a:r>
              <a:rPr lang="ru-RU" dirty="0"/>
              <a:t> </a:t>
            </a:r>
            <a:r>
              <a:rPr lang="ru-RU" dirty="0" err="1"/>
              <a:t>Suppression</a:t>
            </a:r>
            <a:r>
              <a:rPr lang="ru-RU" dirty="0"/>
              <a:t> (NMS</a:t>
            </a:r>
            <a:r>
              <a:rPr lang="ru-RU" dirty="0" smtClean="0"/>
              <a:t>) для </a:t>
            </a:r>
            <a:r>
              <a:rPr lang="ru-RU" dirty="0"/>
              <a:t>удаления избыточных перекрывающихся боксов.</a:t>
            </a:r>
          </a:p>
          <a:p>
            <a:r>
              <a:rPr lang="en-US" b="1" dirty="0"/>
              <a:t>Loss SSD</a:t>
            </a:r>
            <a:r>
              <a:rPr lang="en-US" dirty="0"/>
              <a:t> = Localization Loss (Smooth L1) + Confidence Loss (</a:t>
            </a:r>
            <a:r>
              <a:rPr lang="en-US" dirty="0" err="1"/>
              <a:t>Softmax</a:t>
            </a:r>
            <a:r>
              <a:rPr lang="en-US" dirty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211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Сравнение подходов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72920"/>
              </p:ext>
            </p:extLst>
          </p:nvPr>
        </p:nvGraphicFramePr>
        <p:xfrm>
          <a:off x="1562100" y="1144588"/>
          <a:ext cx="97917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900">
                  <a:extLst>
                    <a:ext uri="{9D8B030D-6E8A-4147-A177-3AD203B41FA5}">
                      <a16:colId xmlns:a16="http://schemas.microsoft.com/office/drawing/2014/main" val="1210147774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786332710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2976538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Критерий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Two-Stage (Faster R-CNN)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One-Stage (YOLO, SSD)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5428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Скорость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Медленнее (5-17 FPS)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Быстрее (30-150+ FPS)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97787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Точность на мелких объектах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Выше (традиционно)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Ниже (историч.), сейчас сравнимо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566733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Архитектурная сложность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Выше (2 сети)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Ниже (1 сеть)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52354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Пригодность для real-time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Ограничена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Отлично подходит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371741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Типичное применение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Медицина, точная разметка</a:t>
                      </a:r>
                      <a:endParaRPr lang="ru-RU" sz="3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Видеонаблюдение, автопилот, </a:t>
                      </a:r>
                      <a:r>
                        <a:rPr lang="ru-RU" sz="2000" dirty="0" err="1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edge</a:t>
                      </a:r>
                      <a:endParaRPr lang="ru-RU" sz="32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031582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77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3. </a:t>
            </a:r>
            <a:r>
              <a:rPr lang="ru-RU" b="1" dirty="0" err="1"/>
              <a:t>Non-Maximum</a:t>
            </a:r>
            <a:r>
              <a:rPr lang="ru-RU" b="1" dirty="0"/>
              <a:t> </a:t>
            </a:r>
            <a:r>
              <a:rPr lang="ru-RU" b="1" dirty="0" err="1"/>
              <a:t>Suppression</a:t>
            </a:r>
            <a:r>
              <a:rPr lang="ru-RU" b="1" dirty="0"/>
              <a:t> (NMS)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15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Детектор часто выдает несколько перекрывающихся боксов для одного объекта. NMS убирает избыточные:</a:t>
            </a:r>
          </a:p>
          <a:p>
            <a:pPr lvl="0"/>
            <a:r>
              <a:rPr lang="ru-RU" dirty="0"/>
              <a:t>Отсортировать все боксы по </a:t>
            </a:r>
            <a:r>
              <a:rPr lang="ru-RU" dirty="0" err="1"/>
              <a:t>confidence</a:t>
            </a:r>
            <a:r>
              <a:rPr lang="ru-RU" dirty="0"/>
              <a:t> </a:t>
            </a:r>
            <a:r>
              <a:rPr lang="ru-RU" dirty="0" err="1"/>
              <a:t>score</a:t>
            </a:r>
            <a:r>
              <a:rPr lang="ru-RU" dirty="0"/>
              <a:t> (по убыванию).</a:t>
            </a:r>
          </a:p>
          <a:p>
            <a:pPr lvl="0"/>
            <a:r>
              <a:rPr lang="ru-RU" dirty="0"/>
              <a:t>Взять бокс с максимальным </a:t>
            </a:r>
            <a:r>
              <a:rPr lang="ru-RU" dirty="0" err="1"/>
              <a:t>score</a:t>
            </a:r>
            <a:r>
              <a:rPr lang="ru-RU" dirty="0"/>
              <a:t>, добавить в результат.</a:t>
            </a:r>
          </a:p>
          <a:p>
            <a:pPr lvl="0"/>
            <a:r>
              <a:rPr lang="ru-RU" dirty="0"/>
              <a:t>Удалить все остальные боксы с </a:t>
            </a:r>
            <a:r>
              <a:rPr lang="ru-RU" dirty="0" err="1"/>
              <a:t>IoU</a:t>
            </a:r>
            <a:r>
              <a:rPr lang="ru-RU" dirty="0"/>
              <a:t> &gt; порога (обычно 0.5) относительно выбранного.</a:t>
            </a:r>
          </a:p>
          <a:p>
            <a:pPr lvl="0"/>
            <a:r>
              <a:rPr lang="ru-RU" dirty="0"/>
              <a:t>Повторять, пока боксы не закончатся.</a:t>
            </a:r>
          </a:p>
          <a:p>
            <a:r>
              <a:rPr lang="ru-RU" dirty="0"/>
              <a:t>Современные модели (YOLOv10+, YOLO26) стремятся к </a:t>
            </a:r>
            <a:r>
              <a:rPr lang="ru-RU" b="1" dirty="0"/>
              <a:t>NMS-</a:t>
            </a:r>
            <a:r>
              <a:rPr lang="ru-RU" b="1" dirty="0" err="1"/>
              <a:t>free</a:t>
            </a:r>
            <a:r>
              <a:rPr lang="ru-RU" dirty="0"/>
              <a:t> дизайну — </a:t>
            </a:r>
            <a:r>
              <a:rPr lang="ru-RU" dirty="0" smtClean="0"/>
              <a:t>архитектура сама </a:t>
            </a:r>
            <a:r>
              <a:rPr lang="ru-RU" dirty="0"/>
              <a:t>предсказывает не перекрывающиеся боксы, что снижает задержку </a:t>
            </a:r>
            <a:r>
              <a:rPr lang="ru-RU" dirty="0" err="1"/>
              <a:t>инференса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9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4. </a:t>
            </a:r>
            <a:r>
              <a:rPr lang="ru-RU" b="1" dirty="0"/>
              <a:t>Метрики оценки детекции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46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Precision</a:t>
            </a:r>
            <a:r>
              <a:rPr lang="ru-RU" b="1" dirty="0"/>
              <a:t> и </a:t>
            </a:r>
            <a:r>
              <a:rPr lang="ru-RU" b="1" dirty="0" err="1"/>
              <a:t>Recall</a:t>
            </a:r>
            <a:r>
              <a:rPr lang="ru-RU" b="1" dirty="0"/>
              <a:t> для </a:t>
            </a:r>
            <a:r>
              <a:rPr lang="ru-RU" b="1" dirty="0" smtClean="0"/>
              <a:t>детекции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 smtClean="0"/>
                  <a:t>При </a:t>
                </a:r>
                <a:r>
                  <a:rPr lang="ru-RU" dirty="0"/>
                  <a:t>заданном пороге </a:t>
                </a:r>
                <a:r>
                  <a:rPr lang="ru-RU" dirty="0" err="1"/>
                  <a:t>IoU</a:t>
                </a:r>
                <a:r>
                  <a:rPr lang="ru-RU" dirty="0"/>
                  <a:t> для каждого предсказанного бокса определяется:</a:t>
                </a:r>
              </a:p>
              <a:p>
                <a:pPr lvl="0"/>
                <a:r>
                  <a:rPr lang="ru-RU" b="1" dirty="0" err="1"/>
                  <a:t>True</a:t>
                </a:r>
                <a:r>
                  <a:rPr lang="ru-RU" b="1" dirty="0"/>
                  <a:t> </a:t>
                </a:r>
                <a:r>
                  <a:rPr lang="ru-RU" b="1" dirty="0" err="1"/>
                  <a:t>Positive</a:t>
                </a:r>
                <a:r>
                  <a:rPr lang="ru-RU" b="1" dirty="0"/>
                  <a:t> (TP)</a:t>
                </a:r>
                <a:r>
                  <a:rPr lang="ru-RU" dirty="0"/>
                  <a:t> — бокс с </a:t>
                </a:r>
                <a:r>
                  <a:rPr lang="ru-RU" dirty="0" err="1"/>
                  <a:t>IoU</a:t>
                </a:r>
                <a:r>
                  <a:rPr lang="ru-RU" dirty="0"/>
                  <a:t> ≥ порога и правильным классом.</a:t>
                </a:r>
              </a:p>
              <a:p>
                <a:pPr lvl="0"/>
                <a:r>
                  <a:rPr lang="ru-RU" b="1" dirty="0" err="1"/>
                  <a:t>False</a:t>
                </a:r>
                <a:r>
                  <a:rPr lang="ru-RU" b="1" dirty="0"/>
                  <a:t> </a:t>
                </a:r>
                <a:r>
                  <a:rPr lang="ru-RU" b="1" dirty="0" err="1"/>
                  <a:t>Positive</a:t>
                </a:r>
                <a:r>
                  <a:rPr lang="ru-RU" b="1" dirty="0"/>
                  <a:t> (FP)</a:t>
                </a:r>
                <a:r>
                  <a:rPr lang="ru-RU" dirty="0"/>
                  <a:t> — «лишний» бокс: либо неверный класс, либо низкий </a:t>
                </a:r>
                <a:r>
                  <a:rPr lang="ru-RU" dirty="0" err="1" smtClean="0"/>
                  <a:t>IoU</a:t>
                </a:r>
                <a:r>
                  <a:rPr lang="en-US" dirty="0" smtClean="0"/>
                  <a:t> </a:t>
                </a:r>
                <a:r>
                  <a:rPr lang="ru-RU" dirty="0" smtClean="0"/>
                  <a:t>(</a:t>
                </a:r>
                <a:r>
                  <a:rPr lang="ru-RU" dirty="0"/>
                  <a:t>детектор нашел объект там, где его нет, или продублировал </a:t>
                </a:r>
                <a:r>
                  <a:rPr lang="ru-RU" dirty="0" err="1"/>
                  <a:t>детекцию</a:t>
                </a:r>
                <a:r>
                  <a:rPr lang="ru-RU" dirty="0"/>
                  <a:t>).</a:t>
                </a:r>
              </a:p>
              <a:p>
                <a:pPr lvl="0"/>
                <a:r>
                  <a:rPr lang="ru-RU" b="1" dirty="0" err="1"/>
                  <a:t>False</a:t>
                </a:r>
                <a:r>
                  <a:rPr lang="ru-RU" b="1" dirty="0"/>
                  <a:t> </a:t>
                </a:r>
                <a:r>
                  <a:rPr lang="ru-RU" b="1" dirty="0" err="1"/>
                  <a:t>Negative</a:t>
                </a:r>
                <a:r>
                  <a:rPr lang="ru-RU" b="1" dirty="0"/>
                  <a:t> (FN)</a:t>
                </a:r>
                <a:r>
                  <a:rPr lang="ru-RU" dirty="0"/>
                  <a:t> — объект, который есть в </a:t>
                </a:r>
                <a:r>
                  <a:rPr lang="ru-RU" dirty="0" err="1"/>
                  <a:t>ground</a:t>
                </a:r>
                <a:r>
                  <a:rPr lang="ru-RU" dirty="0"/>
                  <a:t> </a:t>
                </a:r>
                <a:r>
                  <a:rPr lang="ru-RU" dirty="0" err="1"/>
                  <a:t>truth</a:t>
                </a:r>
                <a:r>
                  <a:rPr lang="ru-RU" dirty="0"/>
                  <a:t>, но не был найден детектором.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/>
                        <m:t>𝑃𝑟𝑒𝑐𝑖𝑠𝑖𝑜𝑛</m:t>
                      </m:r>
                      <m:r>
                        <a:rPr lang="ru-RU"/>
                        <m:t>=</m:t>
                      </m:r>
                      <m:f>
                        <m:fPr>
                          <m:ctrlPr>
                            <a:rPr lang="ru-RU" i="1"/>
                          </m:ctrlPr>
                        </m:fPr>
                        <m:num>
                          <m:r>
                            <a:rPr lang="ru-RU" i="1"/>
                            <m:t>𝑇𝑃</m:t>
                          </m:r>
                        </m:num>
                        <m:den>
                          <m:r>
                            <a:rPr lang="ru-RU" i="1"/>
                            <m:t>𝑇𝑃</m:t>
                          </m:r>
                          <m:r>
                            <a:rPr lang="ru-RU"/>
                            <m:t>+</m:t>
                          </m:r>
                          <m:r>
                            <a:rPr lang="ru-RU" i="1"/>
                            <m:t>𝐹𝑃</m:t>
                          </m:r>
                        </m:den>
                      </m:f>
                      <m:r>
                        <a:rPr lang="ru-RU"/>
                        <m:t>, </m:t>
                      </m:r>
                      <m:r>
                        <a:rPr lang="ru-RU" i="1"/>
                        <m:t>𝑅𝑒𝑐𝑎𝑙𝑙</m:t>
                      </m:r>
                      <m:r>
                        <a:rPr lang="ru-RU"/>
                        <m:t>=</m:t>
                      </m:r>
                      <m:f>
                        <m:fPr>
                          <m:ctrlPr>
                            <a:rPr lang="ru-RU" i="1"/>
                          </m:ctrlPr>
                        </m:fPr>
                        <m:num>
                          <m:r>
                            <a:rPr lang="ru-RU" i="1"/>
                            <m:t>𝑇𝑃</m:t>
                          </m:r>
                        </m:num>
                        <m:den>
                          <m:r>
                            <a:rPr lang="ru-RU" i="1"/>
                            <m:t>𝑇𝑃</m:t>
                          </m:r>
                          <m:r>
                            <a:rPr lang="ru-RU"/>
                            <m:t>+</m:t>
                          </m:r>
                          <m:r>
                            <a:rPr lang="ru-RU" i="1"/>
                            <m:t>𝐹𝑁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5" t="-20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836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Average</a:t>
            </a:r>
            <a:r>
              <a:rPr lang="ru-RU" b="1" dirty="0"/>
              <a:t> </a:t>
            </a:r>
            <a:r>
              <a:rPr lang="ru-RU" b="1" dirty="0" err="1"/>
              <a:t>Precision</a:t>
            </a:r>
            <a:r>
              <a:rPr lang="ru-RU" b="1" dirty="0"/>
              <a:t> (AP) и </a:t>
            </a:r>
            <a:r>
              <a:rPr lang="ru-RU" b="1" dirty="0" err="1" smtClean="0"/>
              <a:t>mAP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ru-RU" dirty="0" err="1" smtClean="0"/>
                  <a:t>Precision</a:t>
                </a:r>
                <a:r>
                  <a:rPr lang="ru-RU" dirty="0" smtClean="0"/>
                  <a:t> </a:t>
                </a:r>
                <a:r>
                  <a:rPr lang="ru-RU" dirty="0"/>
                  <a:t>и </a:t>
                </a:r>
                <a:r>
                  <a:rPr lang="ru-RU" dirty="0" err="1"/>
                  <a:t>Recall</a:t>
                </a:r>
                <a:r>
                  <a:rPr lang="ru-RU" dirty="0"/>
                  <a:t> меняются в зависимости от порога </a:t>
                </a:r>
                <a:r>
                  <a:rPr lang="ru-RU" dirty="0" err="1"/>
                  <a:t>confidence</a:t>
                </a:r>
                <a:r>
                  <a:rPr lang="ru-RU" dirty="0"/>
                  <a:t>. Строится </a:t>
                </a:r>
                <a:r>
                  <a:rPr lang="ru-RU" b="1" dirty="0" err="1"/>
                  <a:t>Precision-Recall</a:t>
                </a:r>
                <a:r>
                  <a:rPr lang="ru-RU" b="1" dirty="0"/>
                  <a:t> </a:t>
                </a:r>
                <a:r>
                  <a:rPr lang="ru-RU" b="1" dirty="0" err="1"/>
                  <a:t>curve</a:t>
                </a:r>
                <a:r>
                  <a:rPr lang="ru-RU" dirty="0" smtClean="0"/>
                  <a:t>,</a:t>
                </a:r>
                <a:r>
                  <a:rPr lang="en-US" dirty="0" smtClean="0"/>
                  <a:t> </a:t>
                </a:r>
                <a:r>
                  <a:rPr lang="ru-RU" dirty="0" smtClean="0"/>
                  <a:t>и </a:t>
                </a:r>
                <a:r>
                  <a:rPr lang="ru-RU" b="1" dirty="0" err="1"/>
                  <a:t>Average</a:t>
                </a:r>
                <a:r>
                  <a:rPr lang="ru-RU" b="1" dirty="0"/>
                  <a:t> </a:t>
                </a:r>
                <a:r>
                  <a:rPr lang="ru-RU" b="1" dirty="0" err="1"/>
                  <a:t>Precision</a:t>
                </a:r>
                <a:r>
                  <a:rPr lang="ru-RU" b="1" dirty="0"/>
                  <a:t> (AP)</a:t>
                </a:r>
                <a:r>
                  <a:rPr lang="ru-RU" dirty="0"/>
                  <a:t> — площадь под этой кривой для одного класса.</a:t>
                </a:r>
              </a:p>
              <a:p>
                <a:r>
                  <a:rPr lang="en-US" b="1" dirty="0"/>
                  <a:t>mean Average Precision (</a:t>
                </a:r>
                <a:r>
                  <a:rPr lang="en-US" b="1" dirty="0" err="1"/>
                  <a:t>mAP</a:t>
                </a:r>
                <a:r>
                  <a:rPr lang="en-US" b="1" dirty="0"/>
                  <a:t>)</a:t>
                </a:r>
                <a:r>
                  <a:rPr lang="en-US" dirty="0"/>
                  <a:t> — </a:t>
                </a:r>
                <a:r>
                  <a:rPr lang="ru-RU" dirty="0"/>
                  <a:t>среднее</a:t>
                </a:r>
                <a:r>
                  <a:rPr lang="en-US" dirty="0"/>
                  <a:t> AP </a:t>
                </a:r>
                <a:r>
                  <a:rPr lang="ru-RU" dirty="0"/>
                  <a:t>по всем классам</a:t>
                </a:r>
                <a:r>
                  <a:rPr lang="en-US" dirty="0"/>
                  <a:t>:</a:t>
                </a:r>
                <a:endParaRPr lang="ru-R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/>
                        <m:t>𝑚𝐴𝑃</m:t>
                      </m:r>
                      <m:r>
                        <a:rPr lang="ru-RU"/>
                        <m:t>=</m:t>
                      </m:r>
                      <m:f>
                        <m:fPr>
                          <m:ctrlPr>
                            <a:rPr lang="ru-RU" i="1"/>
                          </m:ctrlPr>
                        </m:fPr>
                        <m:num>
                          <m:r>
                            <a:rPr lang="ru-RU"/>
                            <m:t>1</m:t>
                          </m:r>
                        </m:num>
                        <m:den>
                          <m:r>
                            <a:rPr lang="ru-RU" i="1"/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/>
                          </m:ctrlPr>
                        </m:naryPr>
                        <m:sub>
                          <m:r>
                            <a:rPr lang="ru-RU" i="1"/>
                            <m:t>𝑖</m:t>
                          </m:r>
                          <m:r>
                            <a:rPr lang="ru-RU"/>
                            <m:t>=1</m:t>
                          </m:r>
                        </m:sub>
                        <m:sup>
                          <m:r>
                            <a:rPr lang="ru-RU" i="1"/>
                            <m:t>𝑁</m:t>
                          </m:r>
                        </m:sup>
                        <m:e>
                          <m:r>
                            <a:rPr lang="ru-RU"/>
                            <m:t> </m:t>
                          </m:r>
                        </m:e>
                      </m:nary>
                      <m:r>
                        <a:rPr lang="ru-RU" i="1"/>
                        <m:t>𝐴</m:t>
                      </m:r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ru-RU" i="1"/>
                            <m:t>𝑃</m:t>
                          </m:r>
                        </m:e>
                        <m:sub>
                          <m:r>
                            <a:rPr lang="ru-RU" i="1"/>
                            <m:t>𝑖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r>
                  <a:rPr lang="ru-RU" b="1" dirty="0"/>
                  <a:t>Варианты представления </a:t>
                </a:r>
                <a:r>
                  <a:rPr lang="ru-RU" b="1" dirty="0" err="1"/>
                  <a:t>mAP</a:t>
                </a:r>
                <a:r>
                  <a:rPr lang="ru-RU" b="1" dirty="0"/>
                  <a:t>:</a:t>
                </a:r>
                <a:endParaRPr lang="ru-RU" dirty="0"/>
              </a:p>
              <a:p>
                <a:pPr lvl="0"/>
                <a:r>
                  <a:rPr lang="ru-RU" b="1" dirty="0"/>
                  <a:t>mAP@0.5</a:t>
                </a:r>
                <a:r>
                  <a:rPr lang="ru-RU" dirty="0"/>
                  <a:t> — AP при фиксированном пороге </a:t>
                </a:r>
                <a:r>
                  <a:rPr lang="ru-RU" dirty="0" err="1"/>
                  <a:t>IoU</a:t>
                </a:r>
                <a:r>
                  <a:rPr lang="ru-RU" dirty="0"/>
                  <a:t>=0.5 (используется в PASCAL VOC).</a:t>
                </a:r>
              </a:p>
              <a:p>
                <a:pPr lvl="0"/>
                <a:r>
                  <a:rPr lang="ru-RU" b="1" dirty="0"/>
                  <a:t>mAP@0.5:0.95</a:t>
                </a:r>
                <a:r>
                  <a:rPr lang="ru-RU" dirty="0"/>
                  <a:t> — усреднение AP по порогам </a:t>
                </a:r>
                <a:r>
                  <a:rPr lang="ru-RU" dirty="0" err="1"/>
                  <a:t>IoU</a:t>
                </a:r>
                <a:r>
                  <a:rPr lang="ru-RU" dirty="0"/>
                  <a:t> от 0.5 до 0.95 с шагом 0.05 (используется в COCO</a:t>
                </a:r>
                <a:r>
                  <a:rPr lang="ru-RU" dirty="0" smtClean="0"/>
                  <a:t>,</a:t>
                </a:r>
                <a:r>
                  <a:rPr lang="en-US" dirty="0" smtClean="0"/>
                  <a:t> </a:t>
                </a:r>
                <a:r>
                  <a:rPr lang="ru-RU" dirty="0" smtClean="0"/>
                  <a:t>считается </a:t>
                </a:r>
                <a:r>
                  <a:rPr lang="ru-RU" dirty="0"/>
                  <a:t>более строгим и информативным показателем</a:t>
                </a:r>
                <a:r>
                  <a:rPr lang="ru-RU" dirty="0" smtClean="0"/>
                  <a:t>).</a:t>
                </a:r>
                <a:r>
                  <a:rPr lang="en-US" dirty="0" smtClean="0"/>
                  <a:t> </a:t>
                </a:r>
                <a:r>
                  <a:rPr lang="ru-RU" dirty="0" err="1" smtClean="0"/>
                  <a:t>mAP</a:t>
                </a:r>
                <a:r>
                  <a:rPr lang="ru-RU" dirty="0" smtClean="0"/>
                  <a:t> </a:t>
                </a:r>
                <a:r>
                  <a:rPr lang="ru-RU" dirty="0"/>
                  <a:t>объединяет в одном </a:t>
                </a:r>
                <a:r>
                  <a:rPr lang="ru-RU" dirty="0" smtClean="0"/>
                  <a:t>значении </a:t>
                </a:r>
                <a:r>
                  <a:rPr lang="ru-RU" dirty="0"/>
                  <a:t>и точность классификации, и точность локализации.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0" t="-3030" r="-11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1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Типичные причины </a:t>
            </a:r>
            <a:r>
              <a:rPr lang="en-US" b="1" dirty="0"/>
              <a:t>False Positives </a:t>
            </a:r>
            <a:r>
              <a:rPr lang="ru-RU" b="1" dirty="0"/>
              <a:t>и </a:t>
            </a:r>
            <a:r>
              <a:rPr lang="en-US" b="1" dirty="0"/>
              <a:t>False Negatives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False Positive</a:t>
            </a:r>
            <a:r>
              <a:rPr lang="ru-RU" dirty="0" smtClean="0"/>
              <a:t> - Похожий </a:t>
            </a:r>
            <a:r>
              <a:rPr lang="ru-RU" dirty="0"/>
              <a:t>фоновый объект, </a:t>
            </a:r>
            <a:r>
              <a:rPr lang="ru-RU" dirty="0" err="1"/>
              <a:t>дублирующиеся</a:t>
            </a:r>
            <a:r>
              <a:rPr lang="ru-RU" dirty="0"/>
              <a:t> детекции без </a:t>
            </a:r>
            <a:r>
              <a:rPr lang="en-US" dirty="0"/>
              <a:t>NMS, </a:t>
            </a:r>
            <a:r>
              <a:rPr lang="ru-RU" dirty="0"/>
              <a:t>низкий порог </a:t>
            </a:r>
            <a:r>
              <a:rPr lang="en-US" dirty="0"/>
              <a:t>confidence</a:t>
            </a:r>
          </a:p>
          <a:p>
            <a:r>
              <a:rPr lang="en-US" dirty="0"/>
              <a:t>False </a:t>
            </a:r>
            <a:r>
              <a:rPr lang="en-US" dirty="0" smtClean="0"/>
              <a:t>Negative</a:t>
            </a:r>
            <a:r>
              <a:rPr lang="ru-RU" dirty="0" smtClean="0"/>
              <a:t> - Мелкие </a:t>
            </a:r>
            <a:r>
              <a:rPr lang="ru-RU" dirty="0"/>
              <a:t>объекты, сильное перекрытие объектов, нестандартный ракурс, низкая освещенность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6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5</a:t>
            </a:r>
            <a:r>
              <a:rPr lang="ru-RU" b="1" dirty="0"/>
              <a:t>. </a:t>
            </a:r>
            <a:r>
              <a:rPr lang="ru-RU" b="1" dirty="0"/>
              <a:t>Готовые модели: практический выбор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89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практики без GPU целесообразно использовать</a:t>
            </a:r>
            <a:r>
              <a:rPr lang="ru-RU" dirty="0" smtClean="0"/>
              <a:t>: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/>
              <a:t>Все три модели </a:t>
            </a:r>
            <a:r>
              <a:rPr lang="ru-RU" dirty="0" err="1"/>
              <a:t>предобучены</a:t>
            </a:r>
            <a:r>
              <a:rPr lang="ru-RU" dirty="0"/>
              <a:t> на датасете </a:t>
            </a:r>
            <a:r>
              <a:rPr lang="ru-RU" b="1" dirty="0"/>
              <a:t>COCO</a:t>
            </a:r>
            <a:r>
              <a:rPr lang="ru-RU" dirty="0"/>
              <a:t> (80 классов: </a:t>
            </a:r>
            <a:r>
              <a:rPr lang="ru-RU" dirty="0" err="1"/>
              <a:t>person</a:t>
            </a:r>
            <a:r>
              <a:rPr lang="ru-RU" dirty="0"/>
              <a:t>, </a:t>
            </a:r>
            <a:r>
              <a:rPr lang="ru-RU" dirty="0" err="1"/>
              <a:t>car</a:t>
            </a:r>
            <a:r>
              <a:rPr lang="ru-RU" dirty="0"/>
              <a:t>, </a:t>
            </a:r>
            <a:r>
              <a:rPr lang="ru-RU" dirty="0" err="1"/>
              <a:t>dog</a:t>
            </a:r>
            <a:r>
              <a:rPr lang="ru-RU" dirty="0"/>
              <a:t>, </a:t>
            </a:r>
            <a:r>
              <a:rPr lang="ru-RU" dirty="0" err="1"/>
              <a:t>chair</a:t>
            </a:r>
            <a:r>
              <a:rPr lang="ru-RU" dirty="0"/>
              <a:t> и др.).</a:t>
            </a:r>
            <a:endParaRPr lang="ru-RU" dirty="0" smtClean="0"/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25504"/>
              </p:ext>
            </p:extLst>
          </p:nvPr>
        </p:nvGraphicFramePr>
        <p:xfrm>
          <a:off x="1562100" y="1884232"/>
          <a:ext cx="999729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2432">
                  <a:extLst>
                    <a:ext uri="{9D8B030D-6E8A-4147-A177-3AD203B41FA5}">
                      <a16:colId xmlns:a16="http://schemas.microsoft.com/office/drawing/2014/main" val="3039055943"/>
                    </a:ext>
                  </a:extLst>
                </a:gridCol>
                <a:gridCol w="3332432">
                  <a:extLst>
                    <a:ext uri="{9D8B030D-6E8A-4147-A177-3AD203B41FA5}">
                      <a16:colId xmlns:a16="http://schemas.microsoft.com/office/drawing/2014/main" val="3771932138"/>
                    </a:ext>
                  </a:extLst>
                </a:gridCol>
                <a:gridCol w="3332432">
                  <a:extLst>
                    <a:ext uri="{9D8B030D-6E8A-4147-A177-3AD203B41FA5}">
                      <a16:colId xmlns:a16="http://schemas.microsoft.com/office/drawing/2014/main" val="3059498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Модель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Библиотека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Особенность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24783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source serif 4"/>
                          <a:ea typeface="source serif 4"/>
                          <a:cs typeface="source serif 4"/>
                        </a:rPr>
                        <a:t>YOLOv8n / YOLOv8s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ultralytics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Наименьшие версии, быстрый CPU-инференс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536326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source serif 4"/>
                          <a:ea typeface="source serif 4"/>
                          <a:cs typeface="source serif 4"/>
                        </a:rPr>
                        <a:t>SSD300 (VGG16)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torchvision.models.detection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Готовые веса COCO, встроен в PyTorch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45566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source serif 4"/>
                          <a:ea typeface="source serif 4"/>
                          <a:cs typeface="source serif 4"/>
                        </a:rPr>
                        <a:t>Faster R-CNN (ResNet50-FPN)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torchvision.models.detection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Высокая точность, но медленнее на CPU</a:t>
                      </a:r>
                      <a:endParaRPr lang="ru-RU" sz="2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21666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70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Практические рекомендации для CPU-</a:t>
            </a:r>
            <a:r>
              <a:rPr lang="ru-RU" b="1" dirty="0" err="1"/>
              <a:t>инференса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Используйте </a:t>
            </a:r>
            <a:r>
              <a:rPr lang="ru-RU" b="1" dirty="0"/>
              <a:t>самые компактные варианты</a:t>
            </a:r>
            <a:r>
              <a:rPr lang="ru-RU" dirty="0"/>
              <a:t> моделей (YOLOv8n, а не YOLOv8x).</a:t>
            </a:r>
          </a:p>
          <a:p>
            <a:pPr lvl="0"/>
            <a:r>
              <a:rPr lang="ru-RU" dirty="0"/>
              <a:t>Уменьшайте разрешение входного изображения (например, 320×320 вместо 640×640).</a:t>
            </a:r>
          </a:p>
          <a:p>
            <a:pPr lvl="0"/>
            <a:r>
              <a:rPr lang="ru-RU" dirty="0"/>
              <a:t>Обрабатывайте </a:t>
            </a:r>
            <a:r>
              <a:rPr lang="ru-RU" b="1" dirty="0"/>
              <a:t>небольшие подвыборки</a:t>
            </a:r>
            <a:r>
              <a:rPr lang="ru-RU" dirty="0"/>
              <a:t> изображений (5-20 штук), а не целые датасеты.</a:t>
            </a:r>
          </a:p>
          <a:p>
            <a:pPr lvl="0"/>
            <a:r>
              <a:rPr lang="ru-RU" dirty="0"/>
              <a:t>Для сравнения детекторов используйте одинаковый порог </a:t>
            </a:r>
            <a:r>
              <a:rPr lang="ru-RU" dirty="0" err="1"/>
              <a:t>confidence</a:t>
            </a:r>
            <a:r>
              <a:rPr lang="ru-RU" dirty="0"/>
              <a:t> и </a:t>
            </a:r>
            <a:r>
              <a:rPr lang="ru-RU" dirty="0" err="1"/>
              <a:t>IoU</a:t>
            </a:r>
            <a:r>
              <a:rPr lang="ru-RU" dirty="0"/>
              <a:t> для честного сравнения.</a:t>
            </a:r>
          </a:p>
          <a:p>
            <a:pPr lvl="0"/>
            <a:r>
              <a:rPr lang="ru-RU" dirty="0"/>
              <a:t>Кэшируйте загруженную модель — не перезагружайте веса на каждой итерации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39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Шаблон в оформлении «Облачный шкипер»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3665955_TF03460508.potx" id="{5DFBD78C-123E-43C4-B1D8-C87BD0916EA4}" vid="{61EFFEBC-D632-4584-AAF5-CCDDDB225785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53D857-4181-4777-8893-6E45A690F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DD01B8-816B-49B7-8C81-03AB51D87C54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024FD56-CE1B-42FC-9E83-BFBF160724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Слайды в оформлении «Облачный шкипер»</Template>
  <TotalTime>183</TotalTime>
  <Words>1370</Words>
  <Application>Microsoft Office PowerPoint</Application>
  <PresentationFormat>Широкоэкранный</PresentationFormat>
  <Paragraphs>155</Paragraphs>
  <Slides>21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Arial</vt:lpstr>
      <vt:lpstr>Calibri</vt:lpstr>
      <vt:lpstr>Cambria</vt:lpstr>
      <vt:lpstr>Georgia</vt:lpstr>
      <vt:lpstr>source sans 3</vt:lpstr>
      <vt:lpstr>source serif 4</vt:lpstr>
      <vt:lpstr>Times New Roman</vt:lpstr>
      <vt:lpstr>Шаблон в оформлении «Облачный шкипер»</vt:lpstr>
      <vt:lpstr>Детекция объектов (готовые модели + разбор)</vt:lpstr>
      <vt:lpstr>1. Постановка задачи детекции</vt:lpstr>
      <vt:lpstr>Bounding Box</vt:lpstr>
      <vt:lpstr>Intersection over Union (IoU)</vt:lpstr>
      <vt:lpstr>2. Два подхода к детекции: Two-Stage vs One-Stage</vt:lpstr>
      <vt:lpstr>Two-Stage детекторы (R-CNN семейство)</vt:lpstr>
      <vt:lpstr>Two-Stage детекторы (R-CNN семейство)</vt:lpstr>
      <vt:lpstr>Two-Stage детекторы (R-CNN семейство)</vt:lpstr>
      <vt:lpstr>One-Stage детекторы (YOLO, SSD)</vt:lpstr>
      <vt:lpstr>Эволюция YOLO:</vt:lpstr>
      <vt:lpstr>SSD (Single Shot MultiBox Detector, 2015)</vt:lpstr>
      <vt:lpstr>Сравнение подходов</vt:lpstr>
      <vt:lpstr>3. Non-Maximum Suppression (NMS)</vt:lpstr>
      <vt:lpstr>Презентация PowerPoint</vt:lpstr>
      <vt:lpstr>4. Метрики оценки детекции</vt:lpstr>
      <vt:lpstr>Precision и Recall для детекции</vt:lpstr>
      <vt:lpstr>Average Precision (AP) и mAP</vt:lpstr>
      <vt:lpstr>Типичные причины False Positives и False Negatives</vt:lpstr>
      <vt:lpstr>5. Готовые модели: практический выбор</vt:lpstr>
      <vt:lpstr>Презентация PowerPoint</vt:lpstr>
      <vt:lpstr>Практические рекомендации для CPU-инференса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Макет заголовка</dc:title>
  <dc:creator>Сергей Н. Ткаченко</dc:creator>
  <cp:lastModifiedBy>Сергей Н. Ткаченко</cp:lastModifiedBy>
  <cp:revision>55</cp:revision>
  <dcterms:created xsi:type="dcterms:W3CDTF">2026-08-24T09:09:28Z</dcterms:created>
  <dcterms:modified xsi:type="dcterms:W3CDTF">2026-09-21T12:10:18Z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