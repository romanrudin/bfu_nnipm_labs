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28"/>
  </p:notesMasterIdLst>
  <p:handoutMasterIdLst>
    <p:handoutMasterId r:id="rId29"/>
  </p:handoutMasterIdLst>
  <p:sldIdLst>
    <p:sldId id="265" r:id="rId5"/>
    <p:sldId id="270" r:id="rId6"/>
    <p:sldId id="271" r:id="rId7"/>
    <p:sldId id="272" r:id="rId8"/>
    <p:sldId id="274" r:id="rId9"/>
    <p:sldId id="273" r:id="rId10"/>
    <p:sldId id="275" r:id="rId11"/>
    <p:sldId id="276" r:id="rId12"/>
    <p:sldId id="277" r:id="rId13"/>
    <p:sldId id="278" r:id="rId14"/>
    <p:sldId id="279" r:id="rId15"/>
    <p:sldId id="281" r:id="rId16"/>
    <p:sldId id="280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1" r:id="rId26"/>
    <p:sldId id="292" r:id="rId27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843" autoAdjust="0"/>
  </p:normalViewPr>
  <p:slideViewPr>
    <p:cSldViewPr snapToGrid="0" showGuides="1">
      <p:cViewPr varScale="1">
        <p:scale>
          <a:sx n="111" d="100"/>
          <a:sy n="111" d="100"/>
        </p:scale>
        <p:origin x="4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0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DDCB7EC-CEDA-42D5-8A0A-747B258F7B12}" type="datetime1">
              <a:rPr lang="ru-RU" smtClean="0"/>
              <a:t>24.08.2026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78FE58C-C1A6-4C4C-90C2-B7F5B0504B2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46050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87BBAA-8962-46BE-8131-E6CE08071E10}" type="datetime1">
              <a:rPr lang="ru-RU" smtClean="0"/>
              <a:pPr/>
              <a:t>24.08.2026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10E1E9A-E921-4174-A0FC-51868D7AC568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378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10E1E9A-E921-4174-A0FC-51868D7AC568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9188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2AAF71-7088-4082-A4B5-5D2286FF71AE}" type="datetime1">
              <a:rPr lang="ru-RU" noProof="0" smtClean="0"/>
              <a:t>24.08.2026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4670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566367"/>
          </a:xfrm>
        </p:spPr>
        <p:txBody>
          <a:bodyPr rtlCol="0">
            <a:normAutofit/>
          </a:bodyPr>
          <a:lstStyle>
            <a:lvl1pPr>
              <a:defRPr sz="3600"/>
            </a:lvl1pPr>
          </a:lstStyle>
          <a:p>
            <a:pPr rtl="0"/>
            <a:r>
              <a:rPr lang="ru-RU" noProof="0" dirty="0" smtClean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62100" y="1145136"/>
            <a:ext cx="9791700" cy="5031827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50B887-75E0-4C5B-AF37-E33049182621}" type="datetime1">
              <a:rPr lang="ru-RU" noProof="0" smtClean="0"/>
              <a:t>24.08.2026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9879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1658" y="1709738"/>
            <a:ext cx="10105791" cy="2862262"/>
          </a:xfrm>
        </p:spPr>
        <p:txBody>
          <a:bodyPr rtlCol="0" anchor="b">
            <a:normAutofit/>
          </a:bodyPr>
          <a:lstStyle>
            <a:lvl1pPr>
              <a:defRPr sz="5400"/>
            </a:lvl1pPr>
          </a:lstStyle>
          <a:p>
            <a:pPr rtl="0"/>
            <a:r>
              <a:rPr lang="ru-RU" noProof="0" dirty="0" smtClean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41658" y="4589463"/>
            <a:ext cx="10105791" cy="1500187"/>
          </a:xfrm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ru-RU" noProof="0" dirty="0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3379668-2161-488D-96B8-6A859D0F15B4}" type="datetime1">
              <a:rPr lang="ru-RU" noProof="0" smtClean="0"/>
              <a:t>24.08.2026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6768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569700" y="1825625"/>
            <a:ext cx="4754880" cy="4351338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605325" y="1825625"/>
            <a:ext cx="4754880" cy="4351338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939C50-7762-4792-95E1-E7874CF6E4AE}" type="datetime1">
              <a:rPr lang="ru-RU" noProof="0" smtClean="0"/>
              <a:t>24.08.2026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63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4100" y="274638"/>
            <a:ext cx="9023350" cy="1143000"/>
          </a:xfrm>
        </p:spPr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562100" y="1489075"/>
            <a:ext cx="4754880" cy="641350"/>
          </a:xfrm>
          <a:noFill/>
          <a:ln>
            <a:noFill/>
          </a:ln>
        </p:spPr>
        <p:txBody>
          <a:bodyPr rtlCol="0"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562100" y="2193925"/>
            <a:ext cx="4754880" cy="397827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98920" y="1489075"/>
            <a:ext cx="4754880" cy="641350"/>
          </a:xfrm>
          <a:noFill/>
          <a:ln>
            <a:noFill/>
          </a:ln>
        </p:spPr>
        <p:txBody>
          <a:bodyPr rtlCol="0"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598920" y="2193925"/>
            <a:ext cx="4754880" cy="397827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901220-6B3C-4719-8281-16AA8BA3EF64}" type="datetime1">
              <a:rPr lang="ru-RU" noProof="0" smtClean="0"/>
              <a:t>24.08.2026</a:t>
            </a:fld>
            <a:endParaRPr lang="ru-RU" noProof="0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3166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D7245F-B3C7-4358-926A-1EE496656B67}" type="datetime1">
              <a:rPr lang="ru-RU" noProof="0" smtClean="0"/>
              <a:t>24.08.2026</a:t>
            </a:fld>
            <a:endParaRPr lang="ru-RU" noProof="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1058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D0A9D0-FD05-4374-8990-9A13D81CB546}" type="datetime1">
              <a:rPr lang="ru-RU" noProof="0" smtClean="0"/>
              <a:t>24.08.2026</a:t>
            </a:fld>
            <a:endParaRPr lang="ru-RU" noProof="0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1514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78905" y="987425"/>
            <a:ext cx="5676483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970C57-C6EC-43E3-AE3A-40D83CDB2BD6}" type="datetime1">
              <a:rPr lang="ru-RU" noProof="0" smtClean="0"/>
              <a:t>24.08.2026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9871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Рисунок 2" descr="Пустой заполнитель, вместо которого можно добавить изображение. Щелкните заполнитель и выберите изображение, которое необходимо добавить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 smtClean="0"/>
              <a:t>Вставка рисунка</a:t>
            </a:r>
            <a:endParaRPr lang="ru-RU" noProof="0" dirty="0"/>
          </a:p>
        </p:txBody>
      </p:sp>
      <p:sp>
        <p:nvSpPr>
          <p:cNvPr id="8" name="Текст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724B01-8CDF-43F1-A896-03E2F79CCBAE}" type="datetime1">
              <a:rPr lang="ru-RU" noProof="0" smtClean="0"/>
              <a:t>24.08.2026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1935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562100" y="1825625"/>
            <a:ext cx="9791700" cy="4351338"/>
          </a:xfrm>
        </p:spPr>
        <p:txBody>
          <a:bodyPr vert="eaVert"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05DDED-C00D-420D-BCCC-88709E63D747}" type="datetime1">
              <a:rPr lang="ru-RU" noProof="0" smtClean="0"/>
              <a:t>24.08.2026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2188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562100" y="365125"/>
            <a:ext cx="7010400" cy="5811838"/>
          </a:xfrm>
        </p:spPr>
        <p:txBody>
          <a:bodyPr vert="eaVert"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DCCF59-F12C-4B22-A0B5-0569E7EBF814}" type="datetime1">
              <a:rPr lang="ru-RU" noProof="0" smtClean="0"/>
              <a:t>24.08.2026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8883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Рисунок 2" descr="Пустой заполнитель, вместо которого можно добавить изображение. Щелкните заполнитель и выберите изображение, которое необходимо добавить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 smtClean="0"/>
              <a:t>Вставка рисунка</a:t>
            </a:r>
            <a:endParaRPr lang="ru-RU" noProof="0" dirty="0"/>
          </a:p>
        </p:txBody>
      </p:sp>
      <p:sp>
        <p:nvSpPr>
          <p:cNvPr id="8" name="Текст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130E92-8550-4A93-A5ED-7A5CF78928CB}" type="datetime1">
              <a:rPr lang="ru-RU" noProof="0" smtClean="0"/>
              <a:t>24.08.2026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1388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 dirty="0" smtClean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562100" y="1179320"/>
            <a:ext cx="9791700" cy="4997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562100" y="6356350"/>
            <a:ext cx="2552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C3194B10-7A25-4893-8C5C-B707DE59842E}" type="datetime1">
              <a:rPr lang="ru-RU" noProof="0" smtClean="0"/>
              <a:t>24.08.2026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71B7BAC7-FE87-40F6-AA24-4F4685D1B022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1936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8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1464" userDrawn="1">
          <p15:clr>
            <a:srgbClr val="F26B43"/>
          </p15:clr>
        </p15:guide>
        <p15:guide id="3" pos="7152" userDrawn="1">
          <p15:clr>
            <a:srgbClr val="F26B43"/>
          </p15:clr>
        </p15:guide>
        <p15:guide id="4" pos="984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r>
              <a:rPr lang="ru-RU" sz="4400" b="1" dirty="0"/>
              <a:t>Введение в </a:t>
            </a:r>
            <a:r>
              <a:rPr lang="ru-RU" sz="4400" b="1" dirty="0" err="1"/>
              <a:t>нейросетевые</a:t>
            </a:r>
            <a:r>
              <a:rPr lang="ru-RU" sz="4400" b="1" dirty="0"/>
              <a:t> методы обработки изображений и настройка окружения</a:t>
            </a: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ru-RU" dirty="0" smtClean="0"/>
              <a:t>Занятие 01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307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Цели занятия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dirty="0"/>
              <a:t>Познакомиться с предметной областью курса: что такое компьютерное зрение и </a:t>
            </a:r>
            <a:r>
              <a:rPr lang="ru-RU" dirty="0" err="1"/>
              <a:t>нейросетевые</a:t>
            </a:r>
            <a:r>
              <a:rPr lang="ru-RU" dirty="0"/>
              <a:t> методы обработки изображений.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dirty="0"/>
              <a:t>Получить обзор основных задач и архитектур, которые будут изучаться на курсе.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dirty="0"/>
              <a:t>Подготовить рабочее окружение для практической работы.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Загрузить тестовый датасет и выполнить базовую визуализацию изображений.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329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1. Что такое компьютерное зрение (CV)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Компьютерное зрение (</a:t>
            </a:r>
            <a:r>
              <a:rPr lang="ru-RU" dirty="0" err="1"/>
              <a:t>Computer</a:t>
            </a:r>
            <a:r>
              <a:rPr lang="ru-RU" dirty="0"/>
              <a:t> </a:t>
            </a:r>
            <a:r>
              <a:rPr lang="ru-RU" dirty="0" err="1"/>
              <a:t>Vision</a:t>
            </a:r>
            <a:r>
              <a:rPr lang="ru-RU" dirty="0"/>
              <a:t>, CV) — раздел искусственного интеллекта, который изучает методы автоматического анализа и интерпретации визуальной информации: изображений, видеопотоков, </a:t>
            </a:r>
            <a:r>
              <a:rPr lang="ru-RU" dirty="0" smtClean="0"/>
              <a:t>трехмерных </a:t>
            </a:r>
            <a:r>
              <a:rPr lang="ru-RU" dirty="0"/>
              <a:t>сцен. Цель CV — научить компьютерные системы «понимать» содержимое изображений так, как это делает человек, но с использованием вычислительных алгоритмов.</a:t>
            </a:r>
          </a:p>
          <a:p>
            <a:r>
              <a:rPr lang="ru-RU" dirty="0"/>
              <a:t>За последние десять лет системы CV перешли от распознавания простых форм и </a:t>
            </a:r>
            <a:r>
              <a:rPr lang="ru-RU" dirty="0" smtClean="0"/>
              <a:t>краев </a:t>
            </a:r>
            <a:r>
              <a:rPr lang="ru-RU" dirty="0"/>
              <a:t>к сложному анализу сцен. Этот скачок был обеспечен тремя факторами</a:t>
            </a:r>
            <a:r>
              <a:rPr lang="ru-RU" dirty="0" smtClean="0"/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577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1. Что такое компьютерное зрение (CV)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dirty="0"/>
              <a:t>Появлением методов </a:t>
            </a:r>
            <a:r>
              <a:rPr lang="ru-RU" b="1" dirty="0"/>
              <a:t>глубокого обучения</a:t>
            </a:r>
            <a:r>
              <a:rPr lang="ru-RU" dirty="0"/>
              <a:t> (</a:t>
            </a:r>
            <a:r>
              <a:rPr lang="ru-RU" dirty="0" err="1"/>
              <a:t>Deep</a:t>
            </a:r>
            <a:r>
              <a:rPr lang="ru-RU" dirty="0"/>
              <a:t> </a:t>
            </a:r>
            <a:r>
              <a:rPr lang="ru-RU" dirty="0" err="1"/>
              <a:t>Learning</a:t>
            </a:r>
            <a:r>
              <a:rPr lang="ru-RU" dirty="0"/>
              <a:t>), прежде всего </a:t>
            </a:r>
            <a:r>
              <a:rPr lang="ru-RU" dirty="0" smtClean="0"/>
              <a:t>сверточных </a:t>
            </a:r>
            <a:r>
              <a:rPr lang="ru-RU" dirty="0"/>
              <a:t>нейронных сетей.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dirty="0"/>
              <a:t>Доступностью </a:t>
            </a:r>
            <a:r>
              <a:rPr lang="ru-RU" b="1" dirty="0"/>
              <a:t>больших размеченных датасетов</a:t>
            </a:r>
            <a:r>
              <a:rPr lang="ru-RU" dirty="0"/>
              <a:t> (</a:t>
            </a:r>
            <a:r>
              <a:rPr lang="ru-RU" dirty="0" err="1"/>
              <a:t>ImageNet</a:t>
            </a:r>
            <a:r>
              <a:rPr lang="ru-RU" dirty="0"/>
              <a:t>, COCO, </a:t>
            </a:r>
            <a:r>
              <a:rPr lang="ru-RU" dirty="0" err="1"/>
              <a:t>Open</a:t>
            </a:r>
            <a:r>
              <a:rPr lang="ru-RU" dirty="0"/>
              <a:t> </a:t>
            </a:r>
            <a:r>
              <a:rPr lang="ru-RU" dirty="0" err="1"/>
              <a:t>Images</a:t>
            </a:r>
            <a:r>
              <a:rPr lang="ru-RU" dirty="0"/>
              <a:t>).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dirty="0"/>
              <a:t>Ростом </a:t>
            </a:r>
            <a:r>
              <a:rPr lang="ru-RU" b="1" dirty="0"/>
              <a:t>вычислительных мощностей</a:t>
            </a:r>
            <a:r>
              <a:rPr lang="ru-RU" dirty="0"/>
              <a:t> — GPU и специализированных ускорителей.</a:t>
            </a:r>
          </a:p>
          <a:p>
            <a:r>
              <a:rPr lang="ru-RU" dirty="0"/>
              <a:t>Ключевым событием принято считать победу </a:t>
            </a:r>
            <a:r>
              <a:rPr lang="ru-RU" dirty="0" err="1"/>
              <a:t>AlexNet</a:t>
            </a:r>
            <a:r>
              <a:rPr lang="ru-RU" dirty="0"/>
              <a:t> (</a:t>
            </a:r>
            <a:r>
              <a:rPr lang="ru-RU" dirty="0" err="1"/>
              <a:t>Krizhevsky</a:t>
            </a:r>
            <a:r>
              <a:rPr lang="ru-RU" dirty="0"/>
              <a:t> </a:t>
            </a:r>
            <a:r>
              <a:rPr lang="ru-RU" dirty="0" err="1"/>
              <a:t>et</a:t>
            </a:r>
            <a:r>
              <a:rPr lang="ru-RU" dirty="0"/>
              <a:t> </a:t>
            </a:r>
            <a:r>
              <a:rPr lang="ru-RU" dirty="0" err="1"/>
              <a:t>al</a:t>
            </a:r>
            <a:r>
              <a:rPr lang="ru-RU" dirty="0"/>
              <a:t>.) в конкурсе </a:t>
            </a:r>
            <a:r>
              <a:rPr lang="ru-RU" dirty="0" err="1"/>
              <a:t>ImageNet</a:t>
            </a:r>
            <a:r>
              <a:rPr lang="ru-RU" dirty="0"/>
              <a:t> в 2012 году: </a:t>
            </a:r>
            <a:r>
              <a:rPr lang="ru-RU" dirty="0" smtClean="0"/>
              <a:t>сверточная </a:t>
            </a:r>
            <a:r>
              <a:rPr lang="ru-RU" dirty="0"/>
              <a:t>сеть значительно превзошла все классические методы. С этого момента </a:t>
            </a:r>
            <a:r>
              <a:rPr lang="ru-RU" dirty="0" err="1"/>
              <a:t>Deep</a:t>
            </a:r>
            <a:r>
              <a:rPr lang="ru-RU" dirty="0"/>
              <a:t> </a:t>
            </a:r>
            <a:r>
              <a:rPr lang="ru-RU" dirty="0" err="1"/>
              <a:t>Learning</a:t>
            </a:r>
            <a:r>
              <a:rPr lang="ru-RU" dirty="0"/>
              <a:t> стал стандартом в области CV.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137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2. Основные задачи компьютерного зрения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2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2.1 Классификация </a:t>
            </a:r>
            <a:r>
              <a:rPr lang="ru-RU" b="1" dirty="0" smtClean="0"/>
              <a:t>изображений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Задача</a:t>
            </a:r>
            <a:r>
              <a:rPr lang="ru-RU" dirty="0"/>
              <a:t>: по входному изображению определить, к какому из заданных классов оно относится. Модель выдает метку класса (или вектор вероятностей) для всего изображения целиком.</a:t>
            </a:r>
          </a:p>
          <a:p>
            <a:r>
              <a:rPr lang="ru-RU" dirty="0"/>
              <a:t>Пример: на фото — кошка или собака? Рентген нормальный или есть патология?</a:t>
            </a:r>
          </a:p>
          <a:p>
            <a:r>
              <a:rPr lang="ru-RU" dirty="0"/>
              <a:t>Ключевые архитектуры</a:t>
            </a:r>
            <a:r>
              <a:rPr lang="en-US" dirty="0"/>
              <a:t>: </a:t>
            </a:r>
            <a:r>
              <a:rPr lang="en-US" dirty="0" err="1"/>
              <a:t>AlexNet</a:t>
            </a:r>
            <a:r>
              <a:rPr lang="en-US" dirty="0"/>
              <a:t>, </a:t>
            </a:r>
            <a:r>
              <a:rPr lang="en-US" dirty="0" err="1"/>
              <a:t>VGGNet</a:t>
            </a:r>
            <a:r>
              <a:rPr lang="en-US" dirty="0"/>
              <a:t>, </a:t>
            </a:r>
            <a:r>
              <a:rPr lang="en-US" dirty="0" err="1"/>
              <a:t>ResNet</a:t>
            </a:r>
            <a:r>
              <a:rPr lang="en-US" dirty="0"/>
              <a:t>, </a:t>
            </a:r>
            <a:r>
              <a:rPr lang="en-US" dirty="0" err="1"/>
              <a:t>DenseNet</a:t>
            </a:r>
            <a:r>
              <a:rPr lang="en-US" dirty="0"/>
              <a:t>, </a:t>
            </a:r>
            <a:r>
              <a:rPr lang="en-US" dirty="0" err="1"/>
              <a:t>EfficientNet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998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2.2 Обнаружение объектов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Задача</a:t>
            </a:r>
            <a:r>
              <a:rPr lang="ru-RU" dirty="0"/>
              <a:t>: найти все объекты заданных классов на изображении и указать их местоположение с помощью ограничивающих прямоугольников (</a:t>
            </a:r>
            <a:r>
              <a:rPr lang="ru-RU" dirty="0" err="1"/>
              <a:t>bounding</a:t>
            </a:r>
            <a:r>
              <a:rPr lang="ru-RU" dirty="0"/>
              <a:t> </a:t>
            </a:r>
            <a:r>
              <a:rPr lang="ru-RU" dirty="0" err="1"/>
              <a:t>boxes</a:t>
            </a:r>
            <a:r>
              <a:rPr lang="ru-RU" dirty="0"/>
              <a:t>).</a:t>
            </a:r>
          </a:p>
          <a:p>
            <a:r>
              <a:rPr lang="ru-RU" dirty="0"/>
              <a:t>Пример: найти все автомобили на кадре с камеры видеонаблюдения; выделить патологические области на рентгенограмме.</a:t>
            </a:r>
          </a:p>
          <a:p>
            <a:r>
              <a:rPr lang="ru-RU" dirty="0"/>
              <a:t>Ключевые архитектуры: R-CNN, </a:t>
            </a:r>
            <a:r>
              <a:rPr lang="ru-RU" dirty="0" err="1"/>
              <a:t>Fast</a:t>
            </a:r>
            <a:r>
              <a:rPr lang="ru-RU" dirty="0"/>
              <a:t>/</a:t>
            </a:r>
            <a:r>
              <a:rPr lang="ru-RU" dirty="0" err="1"/>
              <a:t>Faster</a:t>
            </a:r>
            <a:r>
              <a:rPr lang="ru-RU" dirty="0"/>
              <a:t> R-CNN, YOLO, SSD, DETR.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300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2.3 Семантическая сегментация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Задача</a:t>
            </a:r>
            <a:r>
              <a:rPr lang="ru-RU" dirty="0"/>
              <a:t>: присвоить каждому пикселю входного изображения метку класса. Результат — «маска» той же размерности, что и исходное изображение.</a:t>
            </a:r>
          </a:p>
          <a:p>
            <a:r>
              <a:rPr lang="ru-RU" dirty="0"/>
              <a:t>Пример: выделить пиксели, соответствующие </a:t>
            </a:r>
            <a:r>
              <a:rPr lang="ru-RU" dirty="0" smtClean="0"/>
              <a:t>легким </a:t>
            </a:r>
            <a:r>
              <a:rPr lang="ru-RU" dirty="0"/>
              <a:t>на рентгенограмме; разметить дорогу, тротуар, здания на фото из автомобиля.</a:t>
            </a:r>
          </a:p>
          <a:p>
            <a:r>
              <a:rPr lang="ru-RU" dirty="0"/>
              <a:t>Ключевые архитектуры: FCN, </a:t>
            </a:r>
            <a:r>
              <a:rPr lang="ru-RU" dirty="0" err="1"/>
              <a:t>SegNet</a:t>
            </a:r>
            <a:r>
              <a:rPr lang="ru-RU" dirty="0"/>
              <a:t>, U-</a:t>
            </a:r>
            <a:r>
              <a:rPr lang="ru-RU" dirty="0" err="1"/>
              <a:t>Net</a:t>
            </a:r>
            <a:r>
              <a:rPr lang="ru-RU" dirty="0"/>
              <a:t>, </a:t>
            </a:r>
            <a:r>
              <a:rPr lang="ru-RU" dirty="0" err="1"/>
              <a:t>DeepLab</a:t>
            </a:r>
            <a:r>
              <a:rPr lang="ru-RU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122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2.4 Сегментация по экземплярам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Задача</a:t>
            </a:r>
            <a:r>
              <a:rPr lang="ru-RU" dirty="0"/>
              <a:t>: не просто найти «область класса», а выделить каждый отдельный объект своей маской. Два автомобиля на фото — два разных объекта, даже если класс у них одинаковый.</a:t>
            </a:r>
          </a:p>
          <a:p>
            <a:r>
              <a:rPr lang="ru-RU" dirty="0"/>
              <a:t>Пример: разметить отдельные клетки на микроскопическом снимке.</a:t>
            </a:r>
          </a:p>
          <a:p>
            <a:r>
              <a:rPr lang="ru-RU" dirty="0"/>
              <a:t>Ключевые архитектуры: </a:t>
            </a:r>
            <a:r>
              <a:rPr lang="ru-RU" dirty="0" err="1"/>
              <a:t>Mask</a:t>
            </a:r>
            <a:r>
              <a:rPr lang="ru-RU" dirty="0"/>
              <a:t> R-CNN, YOLACT.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033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2.5 Генерация и улучшение </a:t>
            </a:r>
            <a:r>
              <a:rPr lang="ru-RU" b="1" dirty="0" smtClean="0"/>
              <a:t>изображений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Задача</a:t>
            </a:r>
            <a:r>
              <a:rPr lang="ru-RU" dirty="0"/>
              <a:t>: создать новое изображение или улучшить существующее (повысить разрешение, убрать шум, заполнить пропуски).</a:t>
            </a:r>
          </a:p>
          <a:p>
            <a:r>
              <a:rPr lang="ru-RU" dirty="0"/>
              <a:t>Примеры: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dirty="0" err="1"/>
              <a:t>Суперразрешение</a:t>
            </a:r>
            <a:r>
              <a:rPr lang="ru-RU" dirty="0"/>
              <a:t> (</a:t>
            </a:r>
            <a:r>
              <a:rPr lang="ru-RU" dirty="0" err="1"/>
              <a:t>Super-Resolution</a:t>
            </a:r>
            <a:r>
              <a:rPr lang="ru-RU" dirty="0"/>
              <a:t>): из снимка низкого разрешения получить высококачественное.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dirty="0" err="1"/>
              <a:t>Денойзинг</a:t>
            </a:r>
            <a:r>
              <a:rPr lang="ru-RU" dirty="0"/>
              <a:t>: удалить шум с медицинского снимка.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dirty="0"/>
              <a:t>Генерация фотореалистичных изображений по текстовому описанию.</a:t>
            </a:r>
          </a:p>
          <a:p>
            <a:r>
              <a:rPr lang="ru-RU" dirty="0"/>
              <a:t>Ключевые архитектуры: GAN (DCGAN, SRGAN, </a:t>
            </a:r>
            <a:r>
              <a:rPr lang="ru-RU" dirty="0" err="1"/>
              <a:t>CycleGAN</a:t>
            </a:r>
            <a:r>
              <a:rPr lang="ru-RU" dirty="0"/>
              <a:t>), диффузионные модели (DDPM, </a:t>
            </a:r>
            <a:r>
              <a:rPr lang="ru-RU" dirty="0" err="1"/>
              <a:t>Stable</a:t>
            </a:r>
            <a:r>
              <a:rPr lang="ru-RU" dirty="0"/>
              <a:t> </a:t>
            </a:r>
            <a:r>
              <a:rPr lang="ru-RU" dirty="0" err="1"/>
              <a:t>Diffusion</a:t>
            </a:r>
            <a:r>
              <a:rPr lang="ru-RU" dirty="0"/>
              <a:t>), VAE.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731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2.6 Другие </a:t>
            </a:r>
            <a:r>
              <a:rPr lang="ru-RU" b="1" dirty="0" smtClean="0"/>
              <a:t>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b="1" dirty="0" smtClean="0"/>
              <a:t>Регистрация </a:t>
            </a:r>
            <a:r>
              <a:rPr lang="ru-RU" b="1" dirty="0"/>
              <a:t>изображений</a:t>
            </a:r>
            <a:r>
              <a:rPr lang="ru-RU" dirty="0"/>
              <a:t> (</a:t>
            </a:r>
            <a:r>
              <a:rPr lang="ru-RU" dirty="0" err="1"/>
              <a:t>Image</a:t>
            </a:r>
            <a:r>
              <a:rPr lang="ru-RU" dirty="0"/>
              <a:t> </a:t>
            </a:r>
            <a:r>
              <a:rPr lang="ru-RU" dirty="0" err="1"/>
              <a:t>Registration</a:t>
            </a:r>
            <a:r>
              <a:rPr lang="ru-RU" dirty="0"/>
              <a:t>): выравнивание двух снимков одной сцены или объекта.</a:t>
            </a:r>
          </a:p>
          <a:p>
            <a:pPr lvl="0"/>
            <a:r>
              <a:rPr lang="ru-RU" b="1" dirty="0"/>
              <a:t>Оптический поток</a:t>
            </a:r>
            <a:r>
              <a:rPr lang="ru-RU" dirty="0"/>
              <a:t> (</a:t>
            </a:r>
            <a:r>
              <a:rPr lang="ru-RU" dirty="0" err="1"/>
              <a:t>Optical</a:t>
            </a:r>
            <a:r>
              <a:rPr lang="ru-RU" dirty="0"/>
              <a:t> </a:t>
            </a:r>
            <a:r>
              <a:rPr lang="ru-RU" dirty="0" err="1"/>
              <a:t>Flow</a:t>
            </a:r>
            <a:r>
              <a:rPr lang="ru-RU" dirty="0"/>
              <a:t>): оценка движения пикселей между кадрами видео.</a:t>
            </a:r>
          </a:p>
          <a:p>
            <a:r>
              <a:rPr lang="ru-RU" b="1" dirty="0"/>
              <a:t>Восстановление глубины</a:t>
            </a:r>
            <a:r>
              <a:rPr lang="ru-RU" dirty="0"/>
              <a:t> (</a:t>
            </a:r>
            <a:r>
              <a:rPr lang="ru-RU" dirty="0" err="1"/>
              <a:t>Depth</a:t>
            </a:r>
            <a:r>
              <a:rPr lang="ru-RU" dirty="0"/>
              <a:t> </a:t>
            </a:r>
            <a:r>
              <a:rPr lang="ru-RU" dirty="0" err="1"/>
              <a:t>Estimation</a:t>
            </a:r>
            <a:r>
              <a:rPr lang="ru-RU" dirty="0"/>
              <a:t>): построение карты глубины по одному или нескольким изображениям.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740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3. Эволюция архитектур нейронных сетей для CV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15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3.1 Сверточные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CNN </a:t>
            </a:r>
            <a:r>
              <a:rPr lang="ru-RU" dirty="0"/>
              <a:t>используют операцию свертки для извлечения иерархических признаков: от простых краев и текстур на ранних слоях до сложных семантических объектов на последних. Поскольку параметры фильтров разделяются по всему изображению, CNN: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dirty="0"/>
              <a:t>значительно эффективнее полносвязных сетей для изображений;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dirty="0"/>
              <a:t>инвариантны (частично) к сдвигам объектов;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хорошо масштабируются на большие изображения.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89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3.2 </a:t>
            </a:r>
            <a:r>
              <a:rPr lang="ru-RU" b="1" dirty="0" err="1"/>
              <a:t>ResNet</a:t>
            </a:r>
            <a:r>
              <a:rPr lang="ru-RU" b="1" dirty="0"/>
              <a:t> и концепция остаточных </a:t>
            </a:r>
            <a:r>
              <a:rPr lang="ru-RU" b="1" dirty="0" smtClean="0"/>
              <a:t>связей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Глубокие </a:t>
            </a:r>
            <a:r>
              <a:rPr lang="ru-RU" dirty="0"/>
              <a:t>сети страдали от проблемы затухающих/взрывающихся градиентов. </a:t>
            </a:r>
            <a:r>
              <a:rPr lang="ru-RU" dirty="0" err="1"/>
              <a:t>ResNet</a:t>
            </a:r>
            <a:r>
              <a:rPr lang="ru-RU" dirty="0"/>
              <a:t> (</a:t>
            </a:r>
            <a:r>
              <a:rPr lang="ru-RU" dirty="0" err="1"/>
              <a:t>He</a:t>
            </a:r>
            <a:r>
              <a:rPr lang="ru-RU" dirty="0"/>
              <a:t> </a:t>
            </a:r>
            <a:r>
              <a:rPr lang="ru-RU" dirty="0" err="1"/>
              <a:t>et</a:t>
            </a:r>
            <a:r>
              <a:rPr lang="ru-RU" dirty="0"/>
              <a:t> </a:t>
            </a:r>
            <a:r>
              <a:rPr lang="ru-RU" dirty="0" err="1"/>
              <a:t>al</a:t>
            </a:r>
            <a:r>
              <a:rPr lang="ru-RU" dirty="0"/>
              <a:t>., 2015) ввел «остаточные блоки» с </a:t>
            </a:r>
            <a:r>
              <a:rPr lang="ru-RU" dirty="0" err="1"/>
              <a:t>пропусковыми</a:t>
            </a:r>
            <a:r>
              <a:rPr lang="ru-RU" dirty="0"/>
              <a:t> соединениями (</a:t>
            </a:r>
            <a:r>
              <a:rPr lang="ru-RU" dirty="0" err="1"/>
              <a:t>skip</a:t>
            </a:r>
            <a:r>
              <a:rPr lang="ru-RU" dirty="0"/>
              <a:t> </a:t>
            </a:r>
            <a:r>
              <a:rPr lang="ru-RU" dirty="0" err="1"/>
              <a:t>connections</a:t>
            </a:r>
            <a:r>
              <a:rPr lang="ru-RU" dirty="0"/>
              <a:t>):</a:t>
            </a:r>
          </a:p>
          <a:p>
            <a:r>
              <a:rPr lang="ru-RU" dirty="0" err="1"/>
              <a:t>output</a:t>
            </a:r>
            <a:r>
              <a:rPr lang="ru-RU" dirty="0"/>
              <a:t> = F(x) + x</a:t>
            </a:r>
            <a:br>
              <a:rPr lang="ru-RU" dirty="0"/>
            </a:br>
            <a:r>
              <a:rPr lang="ru-RU" dirty="0" smtClean="0"/>
              <a:t>где </a:t>
            </a:r>
            <a:r>
              <a:rPr lang="ru-RU" dirty="0"/>
              <a:t>F(x) — преобразование нескольких сверточных слоев, а x — вход блока. Это позволило успешно обучать сети глубиной 50, 101, 152 и более слоев. </a:t>
            </a:r>
            <a:r>
              <a:rPr lang="ru-RU" dirty="0" err="1"/>
              <a:t>ResNet</a:t>
            </a:r>
            <a:r>
              <a:rPr lang="ru-RU" dirty="0"/>
              <a:t> стал основой для большинства современных архитектур.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5450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3.3 U-</a:t>
            </a:r>
            <a:r>
              <a:rPr lang="ru-RU" b="1" dirty="0" err="1"/>
              <a:t>Net</a:t>
            </a:r>
            <a:r>
              <a:rPr lang="ru-RU" b="1" dirty="0"/>
              <a:t> и задачи </a:t>
            </a:r>
            <a:r>
              <a:rPr lang="ru-RU" b="1" dirty="0" smtClean="0"/>
              <a:t>сегментации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U-</a:t>
            </a:r>
            <a:r>
              <a:rPr lang="ru-RU" dirty="0" err="1" smtClean="0"/>
              <a:t>Net</a:t>
            </a:r>
            <a:r>
              <a:rPr lang="ru-RU" dirty="0" smtClean="0"/>
              <a:t> </a:t>
            </a:r>
            <a:r>
              <a:rPr lang="ru-RU" dirty="0"/>
              <a:t>(</a:t>
            </a:r>
            <a:r>
              <a:rPr lang="ru-RU" dirty="0" err="1"/>
              <a:t>Ronneberger</a:t>
            </a:r>
            <a:r>
              <a:rPr lang="ru-RU" dirty="0"/>
              <a:t> </a:t>
            </a:r>
            <a:r>
              <a:rPr lang="ru-RU" dirty="0" err="1"/>
              <a:t>et</a:t>
            </a:r>
            <a:r>
              <a:rPr lang="ru-RU" dirty="0"/>
              <a:t> </a:t>
            </a:r>
            <a:r>
              <a:rPr lang="ru-RU" dirty="0" err="1"/>
              <a:t>al</a:t>
            </a:r>
            <a:r>
              <a:rPr lang="ru-RU" dirty="0"/>
              <a:t>., 2015) разработана для биомедицинской сегментации. Архитектура состоит из:</a:t>
            </a:r>
          </a:p>
          <a:p>
            <a:pPr lvl="0"/>
            <a:r>
              <a:rPr lang="ru-RU" b="1" dirty="0" err="1"/>
              <a:t>Энкодер</a:t>
            </a:r>
            <a:r>
              <a:rPr lang="ru-RU" dirty="0"/>
              <a:t> (сжимающий путь): последовательность сверточных блоков и </a:t>
            </a:r>
            <a:r>
              <a:rPr lang="ru-RU" dirty="0" err="1"/>
              <a:t>пулинга</a:t>
            </a:r>
            <a:r>
              <a:rPr lang="ru-RU" dirty="0"/>
              <a:t>, извлекающих признаки все более высокого уровня.</a:t>
            </a:r>
          </a:p>
          <a:p>
            <a:pPr lvl="0"/>
            <a:r>
              <a:rPr lang="ru-RU" b="1" dirty="0"/>
              <a:t>Декодер</a:t>
            </a:r>
            <a:r>
              <a:rPr lang="ru-RU" dirty="0"/>
              <a:t> (расширяющий путь): </a:t>
            </a:r>
            <a:r>
              <a:rPr lang="ru-RU" dirty="0" err="1"/>
              <a:t>апсэмплинг</a:t>
            </a:r>
            <a:r>
              <a:rPr lang="ru-RU" dirty="0"/>
              <a:t> и свертки для восстановления пространственного разрешения.</a:t>
            </a:r>
          </a:p>
          <a:p>
            <a:pPr lvl="0"/>
            <a:r>
              <a:rPr lang="ru-RU" b="1" dirty="0" err="1"/>
              <a:t>Skip-connections</a:t>
            </a:r>
            <a:r>
              <a:rPr lang="ru-RU" dirty="0"/>
              <a:t>: соединяют соответствующие уровни </a:t>
            </a:r>
            <a:r>
              <a:rPr lang="ru-RU" dirty="0" err="1"/>
              <a:t>энкодера</a:t>
            </a:r>
            <a:r>
              <a:rPr lang="ru-RU" dirty="0"/>
              <a:t> и декодера, позволяя декодеру использовать пространственные детали.</a:t>
            </a:r>
          </a:p>
          <a:p>
            <a:r>
              <a:rPr lang="ru-RU" dirty="0"/>
              <a:t>U-</a:t>
            </a:r>
            <a:r>
              <a:rPr lang="ru-RU" dirty="0" err="1"/>
              <a:t>Net</a:t>
            </a:r>
            <a:r>
              <a:rPr lang="ru-RU" dirty="0"/>
              <a:t> крайне эффективна при малых </a:t>
            </a:r>
            <a:r>
              <a:rPr lang="ru-RU" dirty="0" err="1"/>
              <a:t>датасетах</a:t>
            </a:r>
            <a:r>
              <a:rPr lang="ru-RU" dirty="0"/>
              <a:t> — типичный случай в медицинских задачах.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760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3.4 GAN — </a:t>
            </a:r>
            <a:r>
              <a:rPr lang="ru-RU" b="1" dirty="0" err="1"/>
              <a:t>генеративно</a:t>
            </a:r>
            <a:r>
              <a:rPr lang="ru-RU" b="1" dirty="0"/>
              <a:t>-состязательные </a:t>
            </a:r>
            <a:r>
              <a:rPr lang="ru-RU" b="1" dirty="0" smtClean="0"/>
              <a:t>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GAN </a:t>
            </a:r>
            <a:r>
              <a:rPr lang="ru-RU" dirty="0"/>
              <a:t>(</a:t>
            </a:r>
            <a:r>
              <a:rPr lang="ru-RU" dirty="0" err="1"/>
              <a:t>Goodfellow</a:t>
            </a:r>
            <a:r>
              <a:rPr lang="ru-RU" dirty="0"/>
              <a:t> </a:t>
            </a:r>
            <a:r>
              <a:rPr lang="ru-RU" dirty="0" err="1"/>
              <a:t>et</a:t>
            </a:r>
            <a:r>
              <a:rPr lang="ru-RU" dirty="0"/>
              <a:t> </a:t>
            </a:r>
            <a:r>
              <a:rPr lang="ru-RU" dirty="0" err="1"/>
              <a:t>al</a:t>
            </a:r>
            <a:r>
              <a:rPr lang="ru-RU" dirty="0"/>
              <a:t>., 2014) состоят из двух сетей:</a:t>
            </a:r>
          </a:p>
          <a:p>
            <a:pPr lvl="0"/>
            <a:r>
              <a:rPr lang="ru-RU" b="1" dirty="0"/>
              <a:t>Генератор</a:t>
            </a:r>
            <a:r>
              <a:rPr lang="ru-RU" dirty="0"/>
              <a:t> G: принимает случайный шум z и создает «поддельное» изображение.</a:t>
            </a:r>
          </a:p>
          <a:p>
            <a:pPr lvl="0"/>
            <a:r>
              <a:rPr lang="ru-RU" b="1" dirty="0"/>
              <a:t>Дискриминатор</a:t>
            </a:r>
            <a:r>
              <a:rPr lang="ru-RU" dirty="0"/>
              <a:t> D: пытается отличить реальные изображения от сгенерированных.</a:t>
            </a:r>
          </a:p>
          <a:p>
            <a:r>
              <a:rPr lang="ru-RU" dirty="0"/>
              <a:t>Обе сети обучаются одновременно. В итоге генератор учится создавать реалистичные изображения.</a:t>
            </a:r>
          </a:p>
          <a:p>
            <a:r>
              <a:rPr lang="ru-RU" dirty="0"/>
              <a:t>Применения в CV: генерация изображений, </a:t>
            </a:r>
            <a:r>
              <a:rPr lang="ru-RU" dirty="0" err="1"/>
              <a:t>суперразрешение</a:t>
            </a:r>
            <a:r>
              <a:rPr lang="ru-RU" dirty="0"/>
              <a:t> (SRGAN), перенос стиля, дополнение датасетов, реставрация снимков.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090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3.5 Диффузионные </a:t>
            </a:r>
            <a:r>
              <a:rPr lang="ru-RU" b="1" dirty="0" smtClean="0"/>
              <a:t>модели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Диффузионные </a:t>
            </a:r>
            <a:r>
              <a:rPr lang="ru-RU" dirty="0"/>
              <a:t>модели (DDPM, </a:t>
            </a:r>
            <a:r>
              <a:rPr lang="ru-RU" dirty="0" err="1"/>
              <a:t>Score-based</a:t>
            </a:r>
            <a:r>
              <a:rPr lang="ru-RU" dirty="0"/>
              <a:t> </a:t>
            </a:r>
            <a:r>
              <a:rPr lang="ru-RU" dirty="0" err="1"/>
              <a:t>models</a:t>
            </a:r>
            <a:r>
              <a:rPr lang="ru-RU" dirty="0"/>
              <a:t>) основаны на двух процессах:</a:t>
            </a:r>
          </a:p>
          <a:p>
            <a:pPr lvl="0"/>
            <a:r>
              <a:rPr lang="ru-RU" b="1" dirty="0"/>
              <a:t>Прямой процесс</a:t>
            </a:r>
            <a:r>
              <a:rPr lang="ru-RU" dirty="0"/>
              <a:t>: изображение постепенно «</a:t>
            </a:r>
            <a:r>
              <a:rPr lang="ru-RU" dirty="0" err="1"/>
              <a:t>зашумляется</a:t>
            </a:r>
            <a:r>
              <a:rPr lang="ru-RU" dirty="0"/>
              <a:t>» за T шагов, пока не превратится в случайный шум.</a:t>
            </a:r>
          </a:p>
          <a:p>
            <a:pPr lvl="0"/>
            <a:r>
              <a:rPr lang="ru-RU" b="1" dirty="0"/>
              <a:t>Обратный процесс</a:t>
            </a:r>
            <a:r>
              <a:rPr lang="ru-RU" dirty="0"/>
              <a:t>: нейронная сеть учится последовательно «</a:t>
            </a:r>
            <a:r>
              <a:rPr lang="ru-RU" dirty="0" err="1"/>
              <a:t>денойзить</a:t>
            </a:r>
            <a:r>
              <a:rPr lang="ru-RU" dirty="0"/>
              <a:t>» изображение, восстанавливая его из шума.</a:t>
            </a:r>
          </a:p>
          <a:p>
            <a:r>
              <a:rPr lang="ru-RU" dirty="0"/>
              <a:t>Диффузионные модели дают более высокое качество генерации по сравнению с GAN, но требуют больше вычислений. Лежат в основе</a:t>
            </a:r>
            <a:r>
              <a:rPr lang="en-US" dirty="0"/>
              <a:t> Stable Diffusion, DALL-E 2, </a:t>
            </a:r>
            <a:r>
              <a:rPr lang="en-US" dirty="0" err="1"/>
              <a:t>Imagen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006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3.6 Vision Transformers (</a:t>
            </a:r>
            <a:r>
              <a:rPr lang="en-US" b="1" dirty="0" err="1"/>
              <a:t>ViT</a:t>
            </a:r>
            <a:r>
              <a:rPr lang="en-US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ViT</a:t>
            </a:r>
            <a:r>
              <a:rPr lang="ru-RU" dirty="0" smtClean="0"/>
              <a:t> </a:t>
            </a:r>
            <a:r>
              <a:rPr lang="ru-RU" dirty="0"/>
              <a:t>(</a:t>
            </a:r>
            <a:r>
              <a:rPr lang="ru-RU" dirty="0" err="1"/>
              <a:t>Dosovitskiy</a:t>
            </a:r>
            <a:r>
              <a:rPr lang="ru-RU" dirty="0"/>
              <a:t> </a:t>
            </a:r>
            <a:r>
              <a:rPr lang="ru-RU" dirty="0" err="1"/>
              <a:t>et</a:t>
            </a:r>
            <a:r>
              <a:rPr lang="ru-RU" dirty="0"/>
              <a:t> </a:t>
            </a:r>
            <a:r>
              <a:rPr lang="ru-RU" dirty="0" err="1"/>
              <a:t>al</a:t>
            </a:r>
            <a:r>
              <a:rPr lang="ru-RU" dirty="0"/>
              <a:t>., 2020) адаптирует </a:t>
            </a:r>
            <a:r>
              <a:rPr lang="ru-RU" dirty="0" err="1"/>
              <a:t>трансформеры</a:t>
            </a:r>
            <a:r>
              <a:rPr lang="ru-RU" dirty="0"/>
              <a:t> для CV: изображение разбивается на </a:t>
            </a:r>
            <a:r>
              <a:rPr lang="ru-RU" dirty="0" err="1"/>
              <a:t>патчи</a:t>
            </a:r>
            <a:r>
              <a:rPr lang="ru-RU" dirty="0"/>
              <a:t>, каждый </a:t>
            </a:r>
            <a:r>
              <a:rPr lang="ru-RU" dirty="0" err="1"/>
              <a:t>патч</a:t>
            </a:r>
            <a:r>
              <a:rPr lang="ru-RU" dirty="0"/>
              <a:t> превращается в токен, применяется механизм </a:t>
            </a:r>
            <a:r>
              <a:rPr lang="ru-RU" dirty="0" err="1"/>
              <a:t>самовнимания</a:t>
            </a:r>
            <a:r>
              <a:rPr lang="ru-RU" dirty="0"/>
              <a:t> (</a:t>
            </a:r>
            <a:r>
              <a:rPr lang="ru-RU" dirty="0" err="1"/>
              <a:t>self-attention</a:t>
            </a:r>
            <a:r>
              <a:rPr lang="ru-RU" dirty="0"/>
              <a:t>). </a:t>
            </a:r>
            <a:r>
              <a:rPr lang="ru-RU" dirty="0" err="1"/>
              <a:t>ViT</a:t>
            </a:r>
            <a:r>
              <a:rPr lang="ru-RU" dirty="0"/>
              <a:t> и </a:t>
            </a:r>
            <a:r>
              <a:rPr lang="ru-RU" dirty="0" err="1"/>
              <a:t>Swin</a:t>
            </a:r>
            <a:r>
              <a:rPr lang="ru-RU" dirty="0"/>
              <a:t> </a:t>
            </a:r>
            <a:r>
              <a:rPr lang="ru-RU" dirty="0" err="1"/>
              <a:t>Transformer</a:t>
            </a:r>
            <a:r>
              <a:rPr lang="ru-RU" dirty="0"/>
              <a:t> конкурируют с CNN на многих задачах CV.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667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4. Обзор областей применения курса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4627680"/>
              </p:ext>
            </p:extLst>
          </p:nvPr>
        </p:nvGraphicFramePr>
        <p:xfrm>
          <a:off x="1631112" y="1135332"/>
          <a:ext cx="9791700" cy="52446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0722">
                  <a:extLst>
                    <a:ext uri="{9D8B030D-6E8A-4147-A177-3AD203B41FA5}">
                      <a16:colId xmlns:a16="http://schemas.microsoft.com/office/drawing/2014/main" val="3104322861"/>
                    </a:ext>
                  </a:extLst>
                </a:gridCol>
                <a:gridCol w="3605841">
                  <a:extLst>
                    <a:ext uri="{9D8B030D-6E8A-4147-A177-3AD203B41FA5}">
                      <a16:colId xmlns:a16="http://schemas.microsoft.com/office/drawing/2014/main" val="2511534934"/>
                    </a:ext>
                  </a:extLst>
                </a:gridCol>
                <a:gridCol w="3495137">
                  <a:extLst>
                    <a:ext uri="{9D8B030D-6E8A-4147-A177-3AD203B41FA5}">
                      <a16:colId xmlns:a16="http://schemas.microsoft.com/office/drawing/2014/main" val="706863337"/>
                    </a:ext>
                  </a:extLst>
                </a:gridCol>
              </a:tblGrid>
              <a:tr h="577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Область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Типичные задачи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Ключевые датасеты</a:t>
                      </a:r>
                      <a:endParaRPr lang="ru-RU" sz="3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629517229"/>
                  </a:ext>
                </a:extLst>
              </a:tr>
              <a:tr h="10706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Медицинская визуализация</a:t>
                      </a:r>
                      <a:endParaRPr lang="ru-RU" sz="3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Классификация рентгенов/КТ, сегментация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MosMedData</a:t>
                      </a:r>
                      <a:r>
                        <a:rPr lang="en-US" sz="2400" dirty="0">
                          <a:effectLst/>
                        </a:rPr>
                        <a:t>, NIH Chest X-Ray, </a:t>
                      </a:r>
                      <a:r>
                        <a:rPr lang="en-US" sz="2400" dirty="0" err="1">
                          <a:effectLst/>
                        </a:rPr>
                        <a:t>MedMNIST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745497478"/>
                  </a:ext>
                </a:extLst>
              </a:tr>
              <a:tr h="10706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Дистанционное зондирование</a:t>
                      </a:r>
                      <a:endParaRPr lang="ru-RU" sz="3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Суперразрешение, классификация земельного покрова</a:t>
                      </a:r>
                      <a:endParaRPr lang="ru-RU" sz="3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err="1">
                          <a:effectLst/>
                        </a:rPr>
                        <a:t>EuroSAT</a:t>
                      </a:r>
                      <a:r>
                        <a:rPr lang="ru-RU" sz="2400" dirty="0">
                          <a:effectLst/>
                        </a:rPr>
                        <a:t>, DOTA, UC </a:t>
                      </a:r>
                      <a:r>
                        <a:rPr lang="ru-RU" sz="2400" dirty="0" err="1">
                          <a:effectLst/>
                        </a:rPr>
                        <a:t>Merced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590887362"/>
                  </a:ext>
                </a:extLst>
              </a:tr>
              <a:tr h="10706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Техконтроль / логистика</a:t>
                      </a:r>
                      <a:endParaRPr lang="ru-RU" sz="3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Детекция дефектов, сегментация объектов</a:t>
                      </a:r>
                      <a:endParaRPr lang="ru-RU" sz="3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err="1">
                          <a:effectLst/>
                        </a:rPr>
                        <a:t>Package</a:t>
                      </a:r>
                      <a:r>
                        <a:rPr lang="ru-RU" sz="2400" dirty="0">
                          <a:effectLst/>
                        </a:rPr>
                        <a:t> </a:t>
                      </a:r>
                      <a:r>
                        <a:rPr lang="ru-RU" sz="2400" dirty="0" err="1">
                          <a:effectLst/>
                        </a:rPr>
                        <a:t>Segmentation</a:t>
                      </a:r>
                      <a:r>
                        <a:rPr lang="ru-RU" sz="2400" dirty="0">
                          <a:effectLst/>
                        </a:rPr>
                        <a:t>, </a:t>
                      </a:r>
                      <a:r>
                        <a:rPr lang="ru-RU" sz="2400" dirty="0" err="1">
                          <a:effectLst/>
                        </a:rPr>
                        <a:t>MVTec</a:t>
                      </a:r>
                      <a:r>
                        <a:rPr lang="ru-RU" sz="2400" dirty="0">
                          <a:effectLst/>
                        </a:rPr>
                        <a:t> AD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281154066"/>
                  </a:ext>
                </a:extLst>
              </a:tr>
              <a:tr h="10706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Распознавание текста</a:t>
                      </a:r>
                      <a:endParaRPr lang="ru-RU" sz="3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Обнаружение и сегментация текстовых областей</a:t>
                      </a:r>
                      <a:endParaRPr lang="ru-RU" sz="3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KAIST </a:t>
                      </a:r>
                      <a:r>
                        <a:rPr lang="ru-RU" sz="2400" dirty="0" err="1">
                          <a:effectLst/>
                        </a:rPr>
                        <a:t>Scene</a:t>
                      </a:r>
                      <a:r>
                        <a:rPr lang="ru-RU" sz="2400" dirty="0">
                          <a:effectLst/>
                        </a:rPr>
                        <a:t> </a:t>
                      </a:r>
                      <a:r>
                        <a:rPr lang="ru-RU" sz="2400" dirty="0" err="1">
                          <a:effectLst/>
                        </a:rPr>
                        <a:t>Text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586028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04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5. Инструменты курса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PyTorch (основной </a:t>
            </a:r>
            <a:r>
              <a:rPr lang="ru-RU" b="1" dirty="0" err="1"/>
              <a:t>фреймворк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PyTorch — </a:t>
            </a:r>
            <a:r>
              <a:rPr lang="ru-RU" dirty="0" err="1"/>
              <a:t>фреймворк</a:t>
            </a:r>
            <a:r>
              <a:rPr lang="ru-RU" dirty="0"/>
              <a:t> глубокого обучения с динамическим графом вычислений. Дает полный контроль над циклом обучения, написанием метрик и нестандартных функций потерь.</a:t>
            </a:r>
          </a:p>
          <a:p>
            <a:r>
              <a:rPr lang="ru-RU" dirty="0"/>
              <a:t>Состав:</a:t>
            </a:r>
          </a:p>
          <a:p>
            <a:pPr lvl="0"/>
            <a:r>
              <a:rPr lang="ru-RU" dirty="0" err="1"/>
              <a:t>torch</a:t>
            </a:r>
            <a:r>
              <a:rPr lang="ru-RU" dirty="0"/>
              <a:t> — операции с тензорами, </a:t>
            </a:r>
            <a:r>
              <a:rPr lang="ru-RU" dirty="0" err="1"/>
              <a:t>автодифференцирование</a:t>
            </a:r>
            <a:r>
              <a:rPr lang="ru-RU" dirty="0"/>
              <a:t>.</a:t>
            </a:r>
          </a:p>
          <a:p>
            <a:pPr lvl="0"/>
            <a:r>
              <a:rPr lang="ru-RU" dirty="0" err="1"/>
              <a:t>torchvision</a:t>
            </a:r>
            <a:r>
              <a:rPr lang="ru-RU" dirty="0"/>
              <a:t> — готовые датасеты, трансформации, </a:t>
            </a:r>
            <a:r>
              <a:rPr lang="ru-RU" dirty="0" err="1"/>
              <a:t>предобученные</a:t>
            </a:r>
            <a:r>
              <a:rPr lang="ru-RU" dirty="0"/>
              <a:t> модели.</a:t>
            </a:r>
          </a:p>
          <a:p>
            <a:r>
              <a:rPr lang="en-US" dirty="0" err="1"/>
              <a:t>torch.utils.data</a:t>
            </a:r>
            <a:r>
              <a:rPr lang="en-US" dirty="0"/>
              <a:t> — </a:t>
            </a:r>
            <a:r>
              <a:rPr lang="en-US" dirty="0" err="1"/>
              <a:t>DataLoader</a:t>
            </a:r>
            <a:r>
              <a:rPr lang="en-US" dirty="0"/>
              <a:t>, Dataset.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0369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5. Инструменты курса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Keras / </a:t>
            </a:r>
            <a:r>
              <a:rPr lang="ru-RU" b="1" dirty="0" err="1"/>
              <a:t>TensorFlow</a:t>
            </a:r>
            <a:r>
              <a:rPr lang="ru-RU" b="1" dirty="0"/>
              <a:t> (одна лабораторная)</a:t>
            </a:r>
            <a:endParaRPr lang="ru-RU" dirty="0"/>
          </a:p>
          <a:p>
            <a:r>
              <a:rPr lang="ru-RU" dirty="0"/>
              <a:t>Высокоуровневый API для быстрого прототипирования. Компактный синтаксис, автоматическое управление циклом обучения через </a:t>
            </a:r>
            <a:r>
              <a:rPr lang="ru-RU" dirty="0" err="1"/>
              <a:t>model.fit</a:t>
            </a:r>
            <a:r>
              <a:rPr lang="ru-RU" dirty="0"/>
              <a:t>(). На занятии 7 будет использоваться Keras для сравнения подходов с PyTorch.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049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5. Инструменты курса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Jupyter</a:t>
            </a:r>
            <a:r>
              <a:rPr lang="ru-RU" b="1" dirty="0"/>
              <a:t> </a:t>
            </a:r>
            <a:r>
              <a:rPr lang="ru-RU" b="1" dirty="0" err="1"/>
              <a:t>Notebook</a:t>
            </a:r>
            <a:r>
              <a:rPr lang="ru-RU" b="1" dirty="0"/>
              <a:t> / </a:t>
            </a:r>
            <a:r>
              <a:rPr lang="ru-RU" b="1" dirty="0" err="1"/>
              <a:t>JupyterLab</a:t>
            </a:r>
            <a:endParaRPr lang="ru-RU" dirty="0"/>
          </a:p>
          <a:p>
            <a:r>
              <a:rPr lang="ru-RU" dirty="0"/>
              <a:t>Интерактивная среда разработки: код, текст, формулы и визуализации в одном документе (.</a:t>
            </a:r>
            <a:r>
              <a:rPr lang="ru-RU" dirty="0" err="1"/>
              <a:t>ipynb</a:t>
            </a:r>
            <a:r>
              <a:rPr lang="ru-RU" dirty="0"/>
              <a:t>). Идеально подходит для учебных и исследовательских задач.</a:t>
            </a:r>
          </a:p>
          <a:p>
            <a:r>
              <a:rPr lang="ru-RU" dirty="0"/>
              <a:t>Полезные «магические команды»:</a:t>
            </a:r>
          </a:p>
          <a:p>
            <a:pPr lvl="0"/>
            <a:r>
              <a:rPr lang="ru-RU" dirty="0"/>
              <a:t>%</a:t>
            </a:r>
            <a:r>
              <a:rPr lang="ru-RU" dirty="0" err="1"/>
              <a:t>matplotlib</a:t>
            </a:r>
            <a:r>
              <a:rPr lang="ru-RU" dirty="0"/>
              <a:t> </a:t>
            </a:r>
            <a:r>
              <a:rPr lang="ru-RU" dirty="0" err="1"/>
              <a:t>inline</a:t>
            </a:r>
            <a:r>
              <a:rPr lang="ru-RU" dirty="0"/>
              <a:t> — отображать графики прямо в ноутбуке.</a:t>
            </a:r>
          </a:p>
          <a:p>
            <a:pPr lvl="0"/>
            <a:r>
              <a:rPr lang="ru-RU" dirty="0"/>
              <a:t>%</a:t>
            </a:r>
            <a:r>
              <a:rPr lang="ru-RU" dirty="0" err="1"/>
              <a:t>timeit</a:t>
            </a:r>
            <a:r>
              <a:rPr lang="ru-RU" dirty="0"/>
              <a:t> — замерять время выполнения ячейки.</a:t>
            </a:r>
          </a:p>
          <a:p>
            <a:r>
              <a:rPr lang="ru-RU" dirty="0"/>
              <a:t>!</a:t>
            </a:r>
            <a:r>
              <a:rPr lang="ru-RU" dirty="0" err="1"/>
              <a:t>pip</a:t>
            </a:r>
            <a:r>
              <a:rPr lang="ru-RU" dirty="0"/>
              <a:t> </a:t>
            </a:r>
            <a:r>
              <a:rPr lang="ru-RU" dirty="0" err="1"/>
              <a:t>install</a:t>
            </a:r>
            <a:r>
              <a:rPr lang="ru-RU" dirty="0"/>
              <a:t> ... — устанавливать пакеты прямо из ячейки.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370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5. Инструменты курса</a:t>
            </a:r>
            <a:endParaRPr lang="ru-RU" b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5081458"/>
              </p:ext>
            </p:extLst>
          </p:nvPr>
        </p:nvGraphicFramePr>
        <p:xfrm>
          <a:off x="1562100" y="1263422"/>
          <a:ext cx="9791700" cy="46928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95850">
                  <a:extLst>
                    <a:ext uri="{9D8B030D-6E8A-4147-A177-3AD203B41FA5}">
                      <a16:colId xmlns:a16="http://schemas.microsoft.com/office/drawing/2014/main" val="76225928"/>
                    </a:ext>
                  </a:extLst>
                </a:gridCol>
                <a:gridCol w="4895850">
                  <a:extLst>
                    <a:ext uri="{9D8B030D-6E8A-4147-A177-3AD203B41FA5}">
                      <a16:colId xmlns:a16="http://schemas.microsoft.com/office/drawing/2014/main" val="1593201183"/>
                    </a:ext>
                  </a:extLst>
                </a:gridCol>
              </a:tblGrid>
              <a:tr h="7311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Библиотека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Назначение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327586812"/>
                  </a:ext>
                </a:extLst>
              </a:tr>
              <a:tr h="7311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numpy</a:t>
                      </a:r>
                      <a:endParaRPr lang="ru-RU" sz="3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Операции с массивами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8141618"/>
                  </a:ext>
                </a:extLst>
              </a:tr>
              <a:tr h="7311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matplotlib</a:t>
                      </a:r>
                      <a:endParaRPr lang="ru-RU" sz="3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Визуализация данных и изображений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163744188"/>
                  </a:ext>
                </a:extLst>
              </a:tr>
              <a:tr h="7311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Pillow (PIL)</a:t>
                      </a:r>
                      <a:endParaRPr lang="ru-RU" sz="3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Чтение и базовая обработка изображений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4056342365"/>
                  </a:ext>
                </a:extLst>
              </a:tr>
              <a:tr h="7311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opencv-python (cv2)</a:t>
                      </a:r>
                      <a:endParaRPr lang="ru-RU" sz="36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Расширенная обработка изображений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719303381"/>
                  </a:ext>
                </a:extLst>
              </a:tr>
              <a:tr h="7311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err="1">
                          <a:effectLst/>
                        </a:rPr>
                        <a:t>albumentations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Аугментации (начиная с занятия 2)</a:t>
                      </a:r>
                      <a:endParaRPr lang="ru-RU" sz="36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484455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585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Шаблон в оформлении «Облачный шкипер»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3665955_TF03460508.potx" id="{5DFBD78C-123E-43C4-B1D8-C87BD0916EA4}" vid="{61EFFEBC-D632-4584-AAF5-CCDDDB225785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B024FD56-CE1B-42FC-9E83-BFBF160724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53D857-4181-4777-8893-6E45A690F9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EDD01B8-816B-49B7-8C81-03AB51D87C54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40262f94-9f35-4ac3-9a90-690165a166b7"/>
    <ds:schemaRef ds:uri="a4f35948-e619-41b3-aa29-22878b09cfd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Слайды в оформлении «Облачный шкипер»</Template>
  <TotalTime>23</TotalTime>
  <Words>1273</Words>
  <Application>Microsoft Office PowerPoint</Application>
  <PresentationFormat>Широкоэкранный</PresentationFormat>
  <Paragraphs>118</Paragraphs>
  <Slides>23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Arial</vt:lpstr>
      <vt:lpstr>Calibri</vt:lpstr>
      <vt:lpstr>Cambria</vt:lpstr>
      <vt:lpstr>Georgia</vt:lpstr>
      <vt:lpstr>Times New Roman</vt:lpstr>
      <vt:lpstr>Шаблон в оформлении «Облачный шкипер»</vt:lpstr>
      <vt:lpstr>Введение в нейросетевые методы обработки изображений и настройка окружения</vt:lpstr>
      <vt:lpstr>Цели занятия</vt:lpstr>
      <vt:lpstr>1. Что такое компьютерное зрение (CV)</vt:lpstr>
      <vt:lpstr>1. Что такое компьютерное зрение (CV)</vt:lpstr>
      <vt:lpstr>2. Основные задачи компьютерного зрения</vt:lpstr>
      <vt:lpstr>2.1 Классификация изображений</vt:lpstr>
      <vt:lpstr>2.2 Обнаружение объектов</vt:lpstr>
      <vt:lpstr>2.3 Семантическая сегментация</vt:lpstr>
      <vt:lpstr>2.4 Сегментация по экземплярам</vt:lpstr>
      <vt:lpstr>2.5 Генерация и улучшение изображений</vt:lpstr>
      <vt:lpstr>2.6 Другие задачи</vt:lpstr>
      <vt:lpstr>3. Эволюция архитектур нейронных сетей для CV</vt:lpstr>
      <vt:lpstr>3.1 Сверточные нейронные сети</vt:lpstr>
      <vt:lpstr>3.2 ResNet и концепция остаточных связей</vt:lpstr>
      <vt:lpstr>3.3 U-Net и задачи сегментации</vt:lpstr>
      <vt:lpstr>3.4 GAN — генеративно-состязательные сети</vt:lpstr>
      <vt:lpstr>3.5 Диффузионные модели</vt:lpstr>
      <vt:lpstr>3.6 Vision Transformers (ViT)</vt:lpstr>
      <vt:lpstr>4. Обзор областей применения курса</vt:lpstr>
      <vt:lpstr>5. Инструменты курса</vt:lpstr>
      <vt:lpstr>5. Инструменты курса</vt:lpstr>
      <vt:lpstr>5. Инструменты курса</vt:lpstr>
      <vt:lpstr>5. Инструменты курса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Макет заголовка</dc:title>
  <dc:creator>Сергей Н. Ткаченко</dc:creator>
  <cp:lastModifiedBy>Сергей Н. Ткаченко</cp:lastModifiedBy>
  <cp:revision>13</cp:revision>
  <dcterms:created xsi:type="dcterms:W3CDTF">2026-08-24T09:09:28Z</dcterms:created>
  <dcterms:modified xsi:type="dcterms:W3CDTF">2026-08-24T09:35:09Z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